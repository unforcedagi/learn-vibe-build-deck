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5:05 · 30 seconds</a:t>
            </a:r>
          </a:p>
          <a:p/>
          <a:p>
            <a:r>
              <a:t>Tonight is mostly live demos, not slides. Three of them. Everything tonight is also one markdown lesson students can paste into their own AI later, so nobody has to catch every word.</a:t>
            </a:r>
          </a:p>
          <a:p/>
          <a:p>
            <a:r>
              <a:t>(Background for you, not to teach: this whole lecture is the 4D AI Fluency framework in practice. Context files are Description that persists; checking the output out loud is Discernment; deciding what to hand the agent is Delegation; checking before you publish is Diligence.)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5:05–5:06 · 30 seconds</a:t>
            </a:r>
          </a:p>
          <a:p/>
          <a:p>
            <a:r>
              <a:t>The through-line, said once: choose what your AI sees, check what it produces, control what it can change. The footer on every slide says which demo we're 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5:06–5:07 · 1 min</a:t>
            </a:r>
          </a:p>
          <a:p/>
          <a:p>
            <a:r>
              <a:t>The context window is what the model sees for this answer: your message, the chat so far, files and tool results. Training knowledge is separate; app 'memory' is the app looking things up for it. Ask the room: who has had to re-explain their project to an AI three times this week?</a:t>
            </a:r>
          </a:p>
          <a:p/>
          <a:p>
            <a:r>
              <a:t>(Background: this is Description. A good description says what you want (product), how to approach it (process) and how to behave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5:07–5:08 · 1 min</a:t>
            </a:r>
          </a:p>
          <a:p/>
          <a:p>
            <a:r>
              <a:t>A .md file is just a text file. # makes headings, - makes lists. Humans can read it raw; AIs read it really well. Every lesson on the course site is a markdown file you can copy. You've seen it already: AI chat answers are written in markdown.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5:08–5:09 · 1 min</a:t>
            </a:r>
          </a:p>
          <a:p/>
          <a:p>
            <a:r>
              <a:t>Write it once and stop re-explaining your project. What goes in: who it's for, what it is, the stack, conventions, where facts live, and what 'done' looks like. Claude Code reads CLAUDE.md, and also reads AGENTS.md in practice (verified today); a CLAUDE.md that just says 'see AGENTS.md' covers both. Always check the tool actually read it: ask it what the project 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5:08–5:09 · 1 min</a:t>
            </a:r>
          </a:p>
          <a:p/>
          <a:p>
            <a:r>
              <a:t>Six headings are enough. The most useful line is often a rule: never invent facts, only use docs/event-facts.md. Short beats long: the agent reads all of it every session, so every line should earn its place. Never put passwords or API keys in it; it's a file in your repo.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5:09–5:17 · 8 min LIVE · exact steps and prompts on the demo script page</a:t>
            </a:r>
          </a:p>
          <a:p/>
          <a:p>
            <a:r>
              <a:t>Repo: github.com/unforcedagi/lvb-week6-demo (Hill Plant Swap, fictional). It has NO AGENTS.md on purpose.</a:t>
            </a:r>
          </a:p>
          <a:p>
            <a:r>
              <a:t>1. (1 min) Open it in your agent. Prompt: 'Improve the homepage.' Expect generic: invented dates, maybe a framework, a 'garden lovers' audience.</a:t>
            </a:r>
          </a:p>
          <a:p>
            <a:r>
              <a:t>2. (3 min) Write AGENTS.md live, asking the room for each line: who it's for, what it is, stack, conventions, facts, what done looks like.</a:t>
            </a:r>
          </a:p>
          <a:p>
            <a:r>
              <a:t>3. (2 min) Same prompt. Narrate what you check: are the facts from docs/event-facts.md? Phone-first? No framework? (That narration is discernment; don't name it.)</a:t>
            </a:r>
          </a:p>
          <a:p>
            <a:r>
              <a:t>4. (1 min) Quit, start a fresh session, ask 'What is this project and who is it for?' It knows: the file persists, the chat didn't.</a:t>
            </a:r>
          </a:p>
          <a:p>
            <a:r>
              <a:t>5. (1 min) Show the 'Where to look' section: the index.</a:t>
            </a:r>
          </a:p>
          <a:p>
            <a:r>
              <a:t>IF IT STALLS: the prepared AGENTS.md is on the demo script page. Paste it, and show the rehearsal output tab. Never show invented output.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Shown after the demo, 30 seconds. This is roughly what we just wrote live. The full template is on the Week 6 page: copy it, fill it in for your own project tonight in studio.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5:17 · 30 seconds (shown at the end of Demo 1)</a:t>
            </a:r>
          </a:p>
          <a:p/>
          <a:p>
            <a:r>
              <a:t>The demo repo starts with one doc; this is how the index grows. A short top file says what exists and links deeper. The AI reads the small map, then opens only what it needs. Indexes nest: an index can point to other indexes. The course site does exactly this: cu.learnvibe.build/llms.txt is an index of every lesson (live tonight after class).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5:17–5:18 · 1 min</a:t>
            </a:r>
          </a:p>
          <a:p/>
          <a:p>
            <a:r>
              <a:t>This is the most common problem in submissions so far: a link that points to a file on your own computer. If the address starts with file:// or C:\, nobody else can open it. Test: send the link to yourself and open it on your phone, off wifi.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5:18–5:19 · 1 min</a:t>
            </a:r>
          </a:p>
          <a:p/>
          <a:p>
            <a:r>
              <a:t>Commit = a save point with a note. Push = send your save points to GitHub. Deploy = publish. Most confusion comes from treating these as one thing.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5:19–5:27 · 8 min LIVE · exact clicks on the demo script page</a:t>
            </a:r>
          </a:p>
          <a:p/>
          <a:p>
            <a:r>
              <a:t>Use the zip from the class files page so you start from a plain folder with no git history.</a:t>
            </a:r>
          </a:p>
          <a:p>
            <a:r>
              <a:t>1. Unzip. GitHub Desktop: File → Add local repository → choose the folder → 'create a repository' → Create.</a:t>
            </a:r>
          </a:p>
          <a:p>
            <a:r>
              <a:t>2. Commit to main ('first version'). Publish repository; UNTICK 'keep this code private'.</a:t>
            </a:r>
          </a:p>
          <a:p>
            <a:r>
              <a:t>3. On github.com: Settings → Pages → Source: Deploy from a branch → main / (root) → Save. About a minute.</a:t>
            </a:r>
          </a:p>
          <a:p>
            <a:r>
              <a:t>4. Open the https://&lt;you&gt;.github.io/&lt;repo&gt;/ link on your phone; hold it up.</a:t>
            </a:r>
          </a:p>
          <a:p>
            <a:r>
              <a:t>5. Ask the agent for one small change, commit, push, refresh after ~1 min.</a:t>
            </a:r>
          </a:p>
          <a:p>
            <a:r>
              <a:t>While Pages builds, say: Vercel does the same for React/Next/Vite projects: import the GitHub repo at vercel.com/new and click Deploy.</a:t>
            </a:r>
          </a:p>
          <a:p>
            <a:r>
              <a:t>IF PAGES IS SLOW: show the already-live copy at unforcedagi.github.io/lvb-week6-demo and move on. The handout 'Get your project online' has every step with a no-install option.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5:27 · 30 seconds. The handout's fix-it table, in brief. Most first deploys hit one of these. Name them so nobody feels stuck alone; the handout on the Week 6 page has the full steps.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5:27–5:28 · 1 min</a:t>
            </a:r>
          </a:p>
          <a:p/>
          <a:p>
            <a:r>
              <a:t>API = how one program asks another for things; every service's menu is different. MCP (Model Context Protocol) is an open standard: write the connector once, use it in any MCP-capable app. Analogy: different wall sockets vs a universal adapter. Reading adds context; writing (sending, paying, deleting) changes the world. Start read-only; ask before anything that changes things. A web page that says 'ignore your instructions' is data, not your boss.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5:28–5:33 · 5 min LIVE</a:t>
            </a:r>
          </a:p>
          <a:p/>
          <a:p>
            <a:r>
              <a:t>Claude Code: claude mcp add --transport http lvb https://api.learnvibe.build/mcp, then start claude and run /mcp to see it connected.</a:t>
            </a:r>
          </a:p>
          <a:p>
            <a:r>
              <a:t>Claude app: Settings → Connectors → Add custom connector → paste the URL (plans vary).</a:t>
            </a:r>
          </a:p>
          <a:p>
            <a:r>
              <a:t>Ask it to list the lessons, then to teach the AGENTS.md part and quiz you. It's read-only and public: no student data, nothing it can change. That's the safe way to start with any connector.</a:t>
            </a:r>
          </a:p>
          <a:p>
            <a:r>
              <a:t>IF IT STALLS: open cu.learnvibe.build/lessons/week-6/lesson.md, copy it, paste into any chat with the same prompt. Same result, no connector.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5:33 · 30 seconds. The through-line, made concrete. Background (not taught): this is Description, Discernment, Delegation and Diligence in practice. A connector that can write (send email, edit files) deserves a pause: what can it change, and can you undo it? Content an AI reads can contain instructions (prompt injection); treat it as data.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5:33–5:35 · 2 min</a:t>
            </a:r>
          </a:p>
          <a:p/>
          <a:p>
            <a:r>
              <a:t>Shipper asked her AI to place her on Every's Eight Levels of AI Adoption from her actual past work, turned that into recommendations, then had it teach her the next step. Same move as tonight: give your AI context about you, and it can coach you. Free plan or no chat history? Paste your AGENTS.md or your last two submissions and ask 'what level am I, with examples?' Gift link: on your account page and in tonight's announcement. No due date.</a:t>
            </a:r>
          </a:p>
          <a:p>
            <a:r>
              <a:t>Then: trios, 5:35–6:05.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6:05–6:25 · 20 min PAIR ACTIVITY (show at 6:05, after trios)</a:t>
            </a:r>
          </a:p>
          <a:p/>
          <a:p>
            <a:r>
              <a:t>Interview questions: Who is this for? What is it, in one sentence? What's it built with? What should the AI never do? Where do the facts live? What does done look like? Partner types; owner corrects. Then each person opens their own project, adds the file, asks their agent 'What is this project and who is it for?' and one real task, and revises what it got wrong. No project yet? Write it for the project you want to start. Then 6:25–6:55: build with it, and get it online (use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only · 0 min</a:t>
            </a:r>
          </a:p>
          <a:p/>
          <a:p>
            <a:r>
              <a:t>https://agents.md/</a:t>
            </a:r>
          </a:p>
          <a:p>
            <a:r>
              <a:t>https://www.anthropic.com/engineering/effective-context-engineering-for-ai-agents</a:t>
            </a:r>
          </a:p>
          <a:p>
            <a:r>
              <a:t>https://docs.github.com/en/pages/getting-started-with-github-pages</a:t>
            </a:r>
          </a:p>
          <a:p>
            <a:r>
              <a:t>https://desktop.github.com/</a:t>
            </a:r>
          </a:p>
          <a:p>
            <a:r>
              <a:t>https://vercel.com/docs/getting-started-with-vercel</a:t>
            </a:r>
          </a:p>
          <a:p>
            <a:r>
              <a:t>https://modelcontextprotocol.io/docs/learn/architecture</a:t>
            </a:r>
          </a:p>
          <a:p>
            <a:r>
              <a:t>https://academy.claude.com/courses/ai-fluency-framework-foundations (Dakan, Feller, Anthropic; CC BY-NC-SA 4.0)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A83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03120"/>
            <a:ext cx="10332720" cy="2743200"/>
          </a:xfrm>
          <a:prstGeom prst="rect">
            <a:avLst/>
          </a:prstGeom>
          <a:noFill/>
        </p:spPr>
        <p:txBody>
          <a:bodyPr wrap="square" anchor="ctr">
            <a:spAutoFit/>
          </a:bodyPr>
          <a:lstStyle/>
          <a:p>
            <a:pPr>
              <a:spcAft>
                <a:spcPts val="1400"/>
              </a:spcAft>
            </a:pPr>
            <a:r>
              <a:rPr sz="6000" b="1">
                <a:solidFill>
                  <a:srgbClr val="272A25"/>
                </a:solidFill>
                <a:latin typeface="Fraunces"/>
              </a:rPr>
              <a:t>What can your AI see?</a:t>
            </a:r>
          </a:p>
          <a:p>
            <a:pPr>
              <a:spcAft>
                <a:spcPts val="1400"/>
              </a:spcAft>
            </a:pPr>
            <a:r>
              <a:rPr sz="3000" b="0">
                <a:solidFill>
                  <a:srgbClr val="64665D"/>
                </a:solidFill>
                <a:latin typeface="DM Sans"/>
              </a:rPr>
              <a:t>Context that sticks, getting online, connectors</a:t>
            </a:r>
          </a:p>
          <a:p>
            <a:pPr>
              <a:spcAft>
                <a:spcPts val="1400"/>
              </a:spcAft>
            </a:pPr>
            <a:r>
              <a:rPr sz="2000" b="0">
                <a:solidFill>
                  <a:srgbClr val="A83D2B"/>
                </a:solidFill>
                <a:latin typeface="DM Sans"/>
              </a:rPr>
              <a:t>Week 6 · Learn, Vibe, Build · October 5, 2026</a:t>
            </a:r>
          </a:p>
        </p:txBody>
      </p:sp>
      <p:sp>
        <p:nvSpPr>
          <p:cNvPr id="4" name="TextBox 3"/>
          <p:cNvSpPr txBox="1"/>
          <p:nvPr/>
        </p:nvSpPr>
        <p:spPr>
          <a:xfrm>
            <a:off x="822960" y="6263640"/>
            <a:ext cx="10607040" cy="365760"/>
          </a:xfrm>
          <a:prstGeom prst="rect">
            <a:avLst/>
          </a:prstGeom>
          <a:noFill/>
        </p:spPr>
        <p:txBody>
          <a:bodyPr wrap="square">
            <a:spAutoFit/>
          </a:bodyPr>
          <a:lstStyle/>
          <a:p>
            <a:pPr algn="r">
              <a:spcAft>
                <a:spcPts val="1400"/>
              </a:spcAft>
            </a:pPr>
            <a:r>
              <a:rPr sz="1600" b="0">
                <a:solidFill>
                  <a:srgbClr val="64665D"/>
                </a:solidFill>
                <a:latin typeface="DM Sans"/>
              </a:rPr>
              <a:t>Week 6 · Opening        1 / 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A83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607040" cy="1188720"/>
          </a:xfrm>
          <a:prstGeom prst="rect">
            <a:avLst/>
          </a:prstGeom>
          <a:noFill/>
        </p:spPr>
        <p:txBody>
          <a:bodyPr wrap="square">
            <a:spAutoFit/>
          </a:bodyPr>
          <a:lstStyle/>
          <a:p>
            <a:pPr>
              <a:spcAft>
                <a:spcPts val="1400"/>
              </a:spcAft>
            </a:pPr>
            <a:r>
              <a:rPr sz="4000" b="1">
                <a:solidFill>
                  <a:srgbClr val="272A25"/>
                </a:solidFill>
                <a:latin typeface="Fraunces"/>
              </a:rPr>
              <a:t>Tonight: three demos</a:t>
            </a:r>
          </a:p>
        </p:txBody>
      </p:sp>
      <p:sp>
        <p:nvSpPr>
          <p:cNvPr id="4" name="TextBox 3"/>
          <p:cNvSpPr txBox="1"/>
          <p:nvPr/>
        </p:nvSpPr>
        <p:spPr>
          <a:xfrm>
            <a:off x="822960" y="2011680"/>
            <a:ext cx="10607040" cy="4206240"/>
          </a:xfrm>
          <a:prstGeom prst="rect">
            <a:avLst/>
          </a:prstGeom>
          <a:noFill/>
        </p:spPr>
        <p:txBody>
          <a:bodyPr wrap="square">
            <a:spAutoFit/>
          </a:bodyPr>
          <a:lstStyle/>
          <a:p>
            <a:pPr>
              <a:spcAft>
                <a:spcPts val="2200"/>
              </a:spcAft>
            </a:pPr>
            <a:r>
              <a:rPr sz="3000" b="0">
                <a:solidFill>
                  <a:srgbClr val="272A25"/>
                </a:solidFill>
                <a:latin typeface="DM Sans"/>
              </a:rPr>
              <a:t>•  1 · Give your AI context that sticks (AGENTS.md)</a:t>
            </a:r>
          </a:p>
          <a:p>
            <a:pPr>
              <a:spcAft>
                <a:spcPts val="2200"/>
              </a:spcAft>
            </a:pPr>
            <a:r>
              <a:rPr sz="3000" b="0">
                <a:solidFill>
                  <a:srgbClr val="272A25"/>
                </a:solidFill>
                <a:latin typeface="DM Sans"/>
              </a:rPr>
              <a:t>•  2 · Get your project online: a link anyone can open</a:t>
            </a:r>
          </a:p>
          <a:p>
            <a:pPr>
              <a:spcAft>
                <a:spcPts val="2200"/>
              </a:spcAft>
            </a:pPr>
            <a:r>
              <a:rPr sz="3000" b="0">
                <a:solidFill>
                  <a:srgbClr val="272A25"/>
                </a:solidFill>
                <a:latin typeface="DM Sans"/>
              </a:rPr>
              <a:t>•  3 · Connect your AI to the course</a:t>
            </a:r>
          </a:p>
        </p:txBody>
      </p:sp>
      <p:sp>
        <p:nvSpPr>
          <p:cNvPr id="5" name="TextBox 4"/>
          <p:cNvSpPr txBox="1"/>
          <p:nvPr/>
        </p:nvSpPr>
        <p:spPr>
          <a:xfrm>
            <a:off x="822960" y="6263640"/>
            <a:ext cx="10607040" cy="365760"/>
          </a:xfrm>
          <a:prstGeom prst="rect">
            <a:avLst/>
          </a:prstGeom>
          <a:noFill/>
        </p:spPr>
        <p:txBody>
          <a:bodyPr wrap="square">
            <a:spAutoFit/>
          </a:bodyPr>
          <a:lstStyle/>
          <a:p>
            <a:pPr algn="r">
              <a:spcAft>
                <a:spcPts val="1400"/>
              </a:spcAft>
            </a:pPr>
            <a:r>
              <a:rPr sz="1600" b="0">
                <a:solidFill>
                  <a:srgbClr val="64665D"/>
                </a:solidFill>
                <a:latin typeface="DM Sans"/>
              </a:rPr>
              <a:t>Week 6 · Opening        2 / 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A83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607040" cy="1188720"/>
          </a:xfrm>
          <a:prstGeom prst="rect">
            <a:avLst/>
          </a:prstGeom>
          <a:noFill/>
        </p:spPr>
        <p:txBody>
          <a:bodyPr wrap="square">
            <a:spAutoFit/>
          </a:bodyPr>
          <a:lstStyle/>
          <a:p>
            <a:pPr>
              <a:spcAft>
                <a:spcPts val="1400"/>
              </a:spcAft>
            </a:pPr>
            <a:r>
              <a:rPr sz="4000" b="1">
                <a:solidFill>
                  <a:srgbClr val="272A25"/>
                </a:solidFill>
                <a:latin typeface="Fraunces"/>
              </a:rPr>
              <a:t>Your AI starts every session from zero</a:t>
            </a:r>
          </a:p>
        </p:txBody>
      </p:sp>
      <p:sp>
        <p:nvSpPr>
          <p:cNvPr id="4" name="TextBox 3"/>
          <p:cNvSpPr txBox="1"/>
          <p:nvPr/>
        </p:nvSpPr>
        <p:spPr>
          <a:xfrm>
            <a:off x="822960" y="2011680"/>
            <a:ext cx="10607040" cy="4206240"/>
          </a:xfrm>
          <a:prstGeom prst="rect">
            <a:avLst/>
          </a:prstGeom>
          <a:noFill/>
        </p:spPr>
        <p:txBody>
          <a:bodyPr wrap="square">
            <a:spAutoFit/>
          </a:bodyPr>
          <a:lstStyle/>
          <a:p>
            <a:pPr>
              <a:spcAft>
                <a:spcPts val="2200"/>
              </a:spcAft>
            </a:pPr>
            <a:r>
              <a:rPr sz="3000" b="0">
                <a:solidFill>
                  <a:srgbClr val="272A25"/>
                </a:solidFill>
                <a:latin typeface="DM Sans"/>
              </a:rPr>
              <a:t>•  It only sees what's in front of it right now</a:t>
            </a:r>
          </a:p>
          <a:p>
            <a:pPr>
              <a:spcAft>
                <a:spcPts val="2200"/>
              </a:spcAft>
            </a:pPr>
            <a:r>
              <a:rPr sz="3000" b="0">
                <a:solidFill>
                  <a:srgbClr val="272A25"/>
                </a:solidFill>
                <a:latin typeface="DM Sans"/>
              </a:rPr>
              <a:t>•  It doesn't know your project unless you tell it</a:t>
            </a:r>
          </a:p>
          <a:p>
            <a:pPr>
              <a:spcAft>
                <a:spcPts val="2200"/>
              </a:spcAft>
            </a:pPr>
            <a:r>
              <a:rPr sz="3000" b="0">
                <a:solidFill>
                  <a:srgbClr val="272A25"/>
                </a:solidFill>
                <a:latin typeface="DM Sans"/>
              </a:rPr>
              <a:t>•  A generic answer is usually a context problem</a:t>
            </a:r>
          </a:p>
        </p:txBody>
      </p:sp>
      <p:sp>
        <p:nvSpPr>
          <p:cNvPr id="5" name="TextBox 4"/>
          <p:cNvSpPr txBox="1"/>
          <p:nvPr/>
        </p:nvSpPr>
        <p:spPr>
          <a:xfrm>
            <a:off x="822960" y="6263640"/>
            <a:ext cx="10607040" cy="365760"/>
          </a:xfrm>
          <a:prstGeom prst="rect">
            <a:avLst/>
          </a:prstGeom>
          <a:noFill/>
        </p:spPr>
        <p:txBody>
          <a:bodyPr wrap="square">
            <a:spAutoFit/>
          </a:bodyPr>
          <a:lstStyle/>
          <a:p>
            <a:pPr algn="r">
              <a:spcAft>
                <a:spcPts val="1400"/>
              </a:spcAft>
            </a:pPr>
            <a:r>
              <a:rPr sz="1600" b="0">
                <a:solidFill>
                  <a:srgbClr val="64665D"/>
                </a:solidFill>
                <a:latin typeface="DM Sans"/>
              </a:rPr>
              <a:t>Week 6 · Demo 1 · Context that sticks        3 / 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A83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607040" cy="1188720"/>
          </a:xfrm>
          <a:prstGeom prst="rect">
            <a:avLst/>
          </a:prstGeom>
          <a:noFill/>
        </p:spPr>
        <p:txBody>
          <a:bodyPr wrap="square">
            <a:spAutoFit/>
          </a:bodyPr>
          <a:lstStyle/>
          <a:p>
            <a:pPr>
              <a:spcAft>
                <a:spcPts val="1400"/>
              </a:spcAft>
            </a:pPr>
            <a:r>
              <a:rPr sz="3200" b="1">
                <a:solidFill>
                  <a:srgbClr val="272A25"/>
                </a:solidFill>
                <a:latin typeface="Fraunces"/>
              </a:rPr>
              <a:t>Markdown: plain text with a little structure</a:t>
            </a:r>
          </a:p>
        </p:txBody>
      </p:sp>
      <p:sp>
        <p:nvSpPr>
          <p:cNvPr id="4" name="Rectangle 3"/>
          <p:cNvSpPr/>
          <p:nvPr/>
        </p:nvSpPr>
        <p:spPr>
          <a:xfrm>
            <a:off x="822960" y="1828800"/>
            <a:ext cx="6583680" cy="4023360"/>
          </a:xfrm>
          <a:prstGeom prst="rect">
            <a:avLst/>
          </a:prstGeom>
          <a:solidFill>
            <a:srgbClr val="EEE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011680"/>
            <a:ext cx="6217920" cy="3749039"/>
          </a:xfrm>
          <a:prstGeom prst="rect">
            <a:avLst/>
          </a:prstGeom>
          <a:noFill/>
        </p:spPr>
        <p:txBody>
          <a:bodyPr wrap="square">
            <a:spAutoFit/>
          </a:bodyPr>
          <a:lstStyle/>
          <a:p>
            <a:pPr>
              <a:spcAft>
                <a:spcPts val="200"/>
              </a:spcAft>
            </a:pPr>
            <a:r>
              <a:rPr sz="2400" b="0">
                <a:solidFill>
                  <a:srgbClr val="272A25"/>
                </a:solidFill>
                <a:latin typeface="DejaVu Sans Mono"/>
              </a:rPr>
              <a:t># Big heading</a:t>
            </a:r>
          </a:p>
          <a:p>
            <a:pPr>
              <a:spcAft>
                <a:spcPts val="200"/>
              </a:spcAft>
            </a:pPr>
            <a:r>
              <a:rPr sz="2400" b="0">
                <a:solidFill>
                  <a:srgbClr val="272A25"/>
                </a:solidFill>
                <a:latin typeface="DejaVu Sans Mono"/>
              </a:rPr>
              <a:t>## Smaller heading</a:t>
            </a:r>
          </a:p>
          <a:p>
            <a:pPr>
              <a:spcAft>
                <a:spcPts val="200"/>
              </a:spcAft>
            </a:pPr>
            <a:r>
              <a:rPr sz="2400" b="0">
                <a:solidFill>
                  <a:srgbClr val="272A25"/>
                </a:solidFill>
                <a:latin typeface="DejaVu Sans Mono"/>
              </a:rPr>
              <a:t>- a bullet point</a:t>
            </a:r>
          </a:p>
          <a:p>
            <a:pPr>
              <a:spcAft>
                <a:spcPts val="200"/>
              </a:spcAft>
            </a:pPr>
            <a:r>
              <a:rPr sz="2400" b="0">
                <a:solidFill>
                  <a:srgbClr val="272A25"/>
                </a:solidFill>
                <a:latin typeface="DejaVu Sans Mono"/>
              </a:rPr>
              <a:t>**bold**  *italic*</a:t>
            </a:r>
          </a:p>
          <a:p>
            <a:pPr>
              <a:spcAft>
                <a:spcPts val="200"/>
              </a:spcAft>
            </a:pPr>
            <a:r>
              <a:rPr sz="2400" b="0">
                <a:solidFill>
                  <a:srgbClr val="272A25"/>
                </a:solidFill>
                <a:latin typeface="DejaVu Sans Mono"/>
              </a:rPr>
              <a:t>[a link](https://example.com)</a:t>
            </a:r>
          </a:p>
          <a:p>
            <a:pPr>
              <a:spcAft>
                <a:spcPts val="200"/>
              </a:spcAft>
            </a:pPr>
            <a:r>
              <a:rPr sz="2400" b="0">
                <a:solidFill>
                  <a:srgbClr val="272A25"/>
                </a:solidFill>
                <a:latin typeface="DejaVu Sans Mono"/>
              </a:rPr>
              <a:t>`some code`</a:t>
            </a:r>
          </a:p>
        </p:txBody>
      </p:sp>
      <p:sp>
        <p:nvSpPr>
          <p:cNvPr id="6" name="TextBox 5"/>
          <p:cNvSpPr txBox="1"/>
          <p:nvPr/>
        </p:nvSpPr>
        <p:spPr>
          <a:xfrm>
            <a:off x="7772400" y="3108960"/>
            <a:ext cx="3931920" cy="1828800"/>
          </a:xfrm>
          <a:prstGeom prst="rect">
            <a:avLst/>
          </a:prstGeom>
          <a:noFill/>
        </p:spPr>
        <p:txBody>
          <a:bodyPr wrap="square">
            <a:spAutoFit/>
          </a:bodyPr>
          <a:lstStyle/>
          <a:p>
            <a:pPr>
              <a:spcAft>
                <a:spcPts val="1400"/>
              </a:spcAft>
            </a:pPr>
            <a:r>
              <a:rPr sz="2800" b="0">
                <a:solidFill>
                  <a:srgbClr val="64665D"/>
                </a:solidFill>
                <a:latin typeface="DM Sans"/>
              </a:rPr>
              <a:t>Plain text. Readable by you and by your AI.</a:t>
            </a:r>
          </a:p>
        </p:txBody>
      </p:sp>
      <p:sp>
        <p:nvSpPr>
          <p:cNvPr id="7" name="TextBox 6"/>
          <p:cNvSpPr txBox="1"/>
          <p:nvPr/>
        </p:nvSpPr>
        <p:spPr>
          <a:xfrm>
            <a:off x="822960" y="6263640"/>
            <a:ext cx="10607040" cy="365760"/>
          </a:xfrm>
          <a:prstGeom prst="rect">
            <a:avLst/>
          </a:prstGeom>
          <a:noFill/>
        </p:spPr>
        <p:txBody>
          <a:bodyPr wrap="square">
            <a:spAutoFit/>
          </a:bodyPr>
          <a:lstStyle/>
          <a:p>
            <a:pPr algn="r">
              <a:spcAft>
                <a:spcPts val="1400"/>
              </a:spcAft>
            </a:pPr>
            <a:r>
              <a:rPr sz="1600" b="0">
                <a:solidFill>
                  <a:srgbClr val="64665D"/>
                </a:solidFill>
                <a:latin typeface="DM Sans"/>
              </a:rPr>
              <a:t>Week 6 · Demo 1 · Context that sticks        4 /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A83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607040" cy="1188720"/>
          </a:xfrm>
          <a:prstGeom prst="rect">
            <a:avLst/>
          </a:prstGeom>
          <a:noFill/>
        </p:spPr>
        <p:txBody>
          <a:bodyPr wrap="square">
            <a:spAutoFit/>
          </a:bodyPr>
          <a:lstStyle/>
          <a:p>
            <a:pPr>
              <a:spcAft>
                <a:spcPts val="1400"/>
              </a:spcAft>
            </a:pPr>
            <a:r>
              <a:rPr sz="4000" b="1">
                <a:solidFill>
                  <a:srgbClr val="272A25"/>
                </a:solidFill>
                <a:latin typeface="Fraunces"/>
              </a:rPr>
              <a:t>AGENTS.md: context that sticks</a:t>
            </a:r>
          </a:p>
        </p:txBody>
      </p:sp>
      <p:sp>
        <p:nvSpPr>
          <p:cNvPr id="4" name="TextBox 3"/>
          <p:cNvSpPr txBox="1"/>
          <p:nvPr/>
        </p:nvSpPr>
        <p:spPr>
          <a:xfrm>
            <a:off x="822960" y="2011680"/>
            <a:ext cx="10607040" cy="4206240"/>
          </a:xfrm>
          <a:prstGeom prst="rect">
            <a:avLst/>
          </a:prstGeom>
          <a:noFill/>
        </p:spPr>
        <p:txBody>
          <a:bodyPr wrap="square">
            <a:spAutoFit/>
          </a:bodyPr>
          <a:lstStyle/>
          <a:p>
            <a:pPr>
              <a:spcAft>
                <a:spcPts val="1600"/>
              </a:spcAft>
            </a:pPr>
            <a:r>
              <a:rPr sz="2600" b="0">
                <a:solidFill>
                  <a:srgbClr val="272A25"/>
                </a:solidFill>
                <a:latin typeface="DM Sans"/>
              </a:rPr>
              <a:t>•  A markdown file in your project folder</a:t>
            </a:r>
          </a:p>
          <a:p>
            <a:pPr>
              <a:spcAft>
                <a:spcPts val="1600"/>
              </a:spcAft>
            </a:pPr>
            <a:r>
              <a:rPr sz="2600" b="0">
                <a:solidFill>
                  <a:srgbClr val="272A25"/>
                </a:solidFill>
                <a:latin typeface="DM Sans"/>
              </a:rPr>
              <a:t>•  Coding agents read it at the start of every session</a:t>
            </a:r>
          </a:p>
          <a:p>
            <a:pPr>
              <a:spcAft>
                <a:spcPts val="1600"/>
              </a:spcAft>
            </a:pPr>
            <a:r>
              <a:rPr sz="2600" b="0">
                <a:solidFill>
                  <a:srgbClr val="272A25"/>
                </a:solidFill>
                <a:latin typeface="DM Sans"/>
              </a:rPr>
              <a:t>•  AGENTS.md: Codex, Cursor, many others · CLAUDE.md: Claude Code</a:t>
            </a:r>
          </a:p>
          <a:p>
            <a:pPr>
              <a:spcAft>
                <a:spcPts val="1600"/>
              </a:spcAft>
            </a:pPr>
            <a:r>
              <a:rPr sz="2600" b="0">
                <a:solidFill>
                  <a:srgbClr val="272A25"/>
                </a:solidFill>
                <a:latin typeface="DM Sans"/>
              </a:rPr>
              <a:t>•  In a chat app: paste it in, or add it to a Project</a:t>
            </a:r>
          </a:p>
        </p:txBody>
      </p:sp>
      <p:sp>
        <p:nvSpPr>
          <p:cNvPr id="5" name="TextBox 4"/>
          <p:cNvSpPr txBox="1"/>
          <p:nvPr/>
        </p:nvSpPr>
        <p:spPr>
          <a:xfrm>
            <a:off x="822960" y="6263640"/>
            <a:ext cx="10607040" cy="365760"/>
          </a:xfrm>
          <a:prstGeom prst="rect">
            <a:avLst/>
          </a:prstGeom>
          <a:noFill/>
        </p:spPr>
        <p:txBody>
          <a:bodyPr wrap="square">
            <a:spAutoFit/>
          </a:bodyPr>
          <a:lstStyle/>
          <a:p>
            <a:pPr algn="r">
              <a:spcAft>
                <a:spcPts val="1400"/>
              </a:spcAft>
            </a:pPr>
            <a:r>
              <a:rPr sz="1600" b="0">
                <a:solidFill>
                  <a:srgbClr val="64665D"/>
                </a:solidFill>
                <a:latin typeface="DM Sans"/>
              </a:rPr>
              <a:t>Week 6 · Demo 1 · Context that sticks        5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A83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607040" cy="1188720"/>
          </a:xfrm>
          <a:prstGeom prst="rect">
            <a:avLst/>
          </a:prstGeom>
          <a:noFill/>
        </p:spPr>
        <p:txBody>
          <a:bodyPr wrap="square">
            <a:spAutoFit/>
          </a:bodyPr>
          <a:lstStyle/>
          <a:p>
            <a:pPr>
              <a:spcAft>
                <a:spcPts val="1400"/>
              </a:spcAft>
            </a:pPr>
            <a:r>
              <a:rPr sz="4000" b="1">
                <a:solidFill>
                  <a:srgbClr val="272A25"/>
                </a:solidFill>
                <a:latin typeface="Fraunces"/>
              </a:rPr>
              <a:t>What goes in AGENTS.md</a:t>
            </a:r>
          </a:p>
        </p:txBody>
      </p:sp>
      <p:sp>
        <p:nvSpPr>
          <p:cNvPr id="4" name="TextBox 3"/>
          <p:cNvSpPr txBox="1"/>
          <p:nvPr/>
        </p:nvSpPr>
        <p:spPr>
          <a:xfrm>
            <a:off x="822960" y="2011680"/>
            <a:ext cx="10607040" cy="4206240"/>
          </a:xfrm>
          <a:prstGeom prst="rect">
            <a:avLst/>
          </a:prstGeom>
          <a:noFill/>
        </p:spPr>
        <p:txBody>
          <a:bodyPr wrap="square">
            <a:spAutoFit/>
          </a:bodyPr>
          <a:lstStyle/>
          <a:p>
            <a:pPr>
              <a:spcAft>
                <a:spcPts val="1600"/>
              </a:spcAft>
            </a:pPr>
            <a:r>
              <a:rPr sz="2600" b="0">
                <a:solidFill>
                  <a:srgbClr val="272A25"/>
                </a:solidFill>
                <a:latin typeface="DM Sans"/>
              </a:rPr>
              <a:t>•  Who it's for, and what they need</a:t>
            </a:r>
          </a:p>
          <a:p>
            <a:pPr>
              <a:spcAft>
                <a:spcPts val="1600"/>
              </a:spcAft>
            </a:pPr>
            <a:r>
              <a:rPr sz="2600" b="0">
                <a:solidFill>
                  <a:srgbClr val="272A25"/>
                </a:solidFill>
                <a:latin typeface="DM Sans"/>
              </a:rPr>
              <a:t>•  What it is, in one sentence</a:t>
            </a:r>
          </a:p>
          <a:p>
            <a:pPr>
              <a:spcAft>
                <a:spcPts val="1600"/>
              </a:spcAft>
            </a:pPr>
            <a:r>
              <a:rPr sz="2600" b="0">
                <a:solidFill>
                  <a:srgbClr val="272A25"/>
                </a:solidFill>
                <a:latin typeface="DM Sans"/>
              </a:rPr>
              <a:t>•  Stack and conventions ("plain HTML, no build step")</a:t>
            </a:r>
          </a:p>
          <a:p>
            <a:pPr>
              <a:spcAft>
                <a:spcPts val="1600"/>
              </a:spcAft>
            </a:pPr>
            <a:r>
              <a:rPr sz="2600" b="0">
                <a:solidFill>
                  <a:srgbClr val="272A25"/>
                </a:solidFill>
                <a:latin typeface="DM Sans"/>
              </a:rPr>
              <a:t>•  Where the facts live (and "never invent facts")</a:t>
            </a:r>
          </a:p>
          <a:p>
            <a:pPr>
              <a:spcAft>
                <a:spcPts val="1600"/>
              </a:spcAft>
            </a:pPr>
            <a:r>
              <a:rPr sz="2600" b="0">
                <a:solidFill>
                  <a:srgbClr val="272A25"/>
                </a:solidFill>
                <a:latin typeface="DM Sans"/>
              </a:rPr>
              <a:t>•  What "done" looks like</a:t>
            </a:r>
          </a:p>
          <a:p>
            <a:pPr>
              <a:spcAft>
                <a:spcPts val="1600"/>
              </a:spcAft>
            </a:pPr>
            <a:r>
              <a:rPr sz="2600" b="0">
                <a:solidFill>
                  <a:srgbClr val="272A25"/>
                </a:solidFill>
                <a:latin typeface="DM Sans"/>
              </a:rPr>
              <a:t>•  Keep it short, true, and secret-free</a:t>
            </a:r>
          </a:p>
        </p:txBody>
      </p:sp>
      <p:sp>
        <p:nvSpPr>
          <p:cNvPr id="5" name="TextBox 4"/>
          <p:cNvSpPr txBox="1"/>
          <p:nvPr/>
        </p:nvSpPr>
        <p:spPr>
          <a:xfrm>
            <a:off x="822960" y="6263640"/>
            <a:ext cx="10607040" cy="365760"/>
          </a:xfrm>
          <a:prstGeom prst="rect">
            <a:avLst/>
          </a:prstGeom>
          <a:noFill/>
        </p:spPr>
        <p:txBody>
          <a:bodyPr wrap="square">
            <a:spAutoFit/>
          </a:bodyPr>
          <a:lstStyle/>
          <a:p>
            <a:pPr algn="r">
              <a:spcAft>
                <a:spcPts val="1400"/>
              </a:spcAft>
            </a:pPr>
            <a:r>
              <a:rPr sz="1600" b="0">
                <a:solidFill>
                  <a:srgbClr val="64665D"/>
                </a:solidFill>
                <a:latin typeface="DM Sans"/>
              </a:rPr>
              <a:t>Week 6 · Demo 1 · Context that sticks        6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A83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607040" cy="1188720"/>
          </a:xfrm>
          <a:prstGeom prst="rect">
            <a:avLst/>
          </a:prstGeom>
          <a:noFill/>
        </p:spPr>
        <p:txBody>
          <a:bodyPr wrap="square">
            <a:spAutoFit/>
          </a:bodyPr>
          <a:lstStyle/>
          <a:p>
            <a:pPr>
              <a:spcAft>
                <a:spcPts val="1400"/>
              </a:spcAft>
            </a:pPr>
            <a:r>
              <a:rPr sz="4000" b="1">
                <a:solidFill>
                  <a:srgbClr val="272A25"/>
                </a:solidFill>
                <a:latin typeface="Fraunces"/>
              </a:rPr>
              <a:t>Live demo · the same question, twice</a:t>
            </a:r>
          </a:p>
        </p:txBody>
      </p:sp>
      <p:sp>
        <p:nvSpPr>
          <p:cNvPr id="4" name="Rectangle 3"/>
          <p:cNvSpPr/>
          <p:nvPr/>
        </p:nvSpPr>
        <p:spPr>
          <a:xfrm>
            <a:off x="822960" y="1828800"/>
            <a:ext cx="6583680" cy="4023360"/>
          </a:xfrm>
          <a:prstGeom prst="rect">
            <a:avLst/>
          </a:prstGeom>
          <a:solidFill>
            <a:srgbClr val="EEE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011680"/>
            <a:ext cx="6217920" cy="3749039"/>
          </a:xfrm>
          <a:prstGeom prst="rect">
            <a:avLst/>
          </a:prstGeom>
          <a:noFill/>
        </p:spPr>
        <p:txBody>
          <a:bodyPr wrap="square">
            <a:spAutoFit/>
          </a:bodyPr>
          <a:lstStyle/>
          <a:p>
            <a:pPr>
              <a:spcAft>
                <a:spcPts val="200"/>
              </a:spcAft>
            </a:pPr>
            <a:r>
              <a:rPr sz="1800" b="0">
                <a:solidFill>
                  <a:srgbClr val="272A25"/>
                </a:solidFill>
                <a:latin typeface="DejaVu Sans Mono"/>
              </a:rPr>
              <a:t>1 · Open the project. Ask: “Improve the homepage.”</a:t>
            </a:r>
          </a:p>
          <a:p>
            <a:pPr>
              <a:spcAft>
                <a:spcPts val="200"/>
              </a:spcAft>
            </a:pPr>
            <a:r>
              <a:rPr sz="1800" b="0">
                <a:solidFill>
                  <a:srgbClr val="272A25"/>
                </a:solidFill>
                <a:latin typeface="DejaVu Sans Mono"/>
              </a:rPr>
              <a:t>2 · Write AGENTS.md together (2 min)</a:t>
            </a:r>
          </a:p>
          <a:p>
            <a:pPr>
              <a:spcAft>
                <a:spcPts val="200"/>
              </a:spcAft>
            </a:pPr>
            <a:r>
              <a:rPr sz="1800" b="0">
                <a:solidFill>
                  <a:srgbClr val="272A25"/>
                </a:solidFill>
                <a:latin typeface="DejaVu Sans Mono"/>
              </a:rPr>
              <a:t>3 · Ask again. Compare.</a:t>
            </a:r>
          </a:p>
          <a:p>
            <a:pPr>
              <a:spcAft>
                <a:spcPts val="200"/>
              </a:spcAft>
            </a:pPr>
            <a:r>
              <a:rPr sz="1800" b="0">
                <a:solidFill>
                  <a:srgbClr val="272A25"/>
                </a:solidFill>
                <a:latin typeface="DejaVu Sans Mono"/>
              </a:rPr>
              <a:t>4 · Fresh session: does it still know?</a:t>
            </a:r>
          </a:p>
          <a:p>
            <a:pPr>
              <a:spcAft>
                <a:spcPts val="200"/>
              </a:spcAft>
            </a:pPr>
            <a:r>
              <a:rPr sz="1800" b="0">
                <a:solidFill>
                  <a:srgbClr val="272A25"/>
                </a:solidFill>
                <a:latin typeface="DejaVu Sans Mono"/>
              </a:rPr>
              <a:t>5 · Add an index pointing to docs/</a:t>
            </a:r>
          </a:p>
        </p:txBody>
      </p:sp>
      <p:sp>
        <p:nvSpPr>
          <p:cNvPr id="6" name="TextBox 5"/>
          <p:cNvSpPr txBox="1"/>
          <p:nvPr/>
        </p:nvSpPr>
        <p:spPr>
          <a:xfrm>
            <a:off x="7772400" y="3108960"/>
            <a:ext cx="3931920" cy="1828800"/>
          </a:xfrm>
          <a:prstGeom prst="rect">
            <a:avLst/>
          </a:prstGeom>
          <a:noFill/>
        </p:spPr>
        <p:txBody>
          <a:bodyPr wrap="square">
            <a:spAutoFit/>
          </a:bodyPr>
          <a:lstStyle/>
          <a:p>
            <a:pPr>
              <a:spcAft>
                <a:spcPts val="1400"/>
              </a:spcAft>
            </a:pPr>
            <a:r>
              <a:rPr sz="2800" b="0">
                <a:solidFill>
                  <a:srgbClr val="64665D"/>
                </a:solidFill>
                <a:latin typeface="DM Sans"/>
              </a:rPr>
              <a:t>Same question. Different context. Different answer.</a:t>
            </a:r>
          </a:p>
        </p:txBody>
      </p:sp>
      <p:sp>
        <p:nvSpPr>
          <p:cNvPr id="7" name="TextBox 6"/>
          <p:cNvSpPr txBox="1"/>
          <p:nvPr/>
        </p:nvSpPr>
        <p:spPr>
          <a:xfrm>
            <a:off x="822960" y="6263640"/>
            <a:ext cx="10607040" cy="365760"/>
          </a:xfrm>
          <a:prstGeom prst="rect">
            <a:avLst/>
          </a:prstGeom>
          <a:noFill/>
        </p:spPr>
        <p:txBody>
          <a:bodyPr wrap="square">
            <a:spAutoFit/>
          </a:bodyPr>
          <a:lstStyle/>
          <a:p>
            <a:pPr algn="r">
              <a:spcAft>
                <a:spcPts val="1400"/>
              </a:spcAft>
            </a:pPr>
            <a:r>
              <a:rPr sz="1600" b="0">
                <a:solidFill>
                  <a:srgbClr val="64665D"/>
                </a:solidFill>
                <a:latin typeface="DM Sans"/>
              </a:rPr>
              <a:t>Week 6 · Demo 1 · Context that sticks        7 /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A83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607040" cy="1188720"/>
          </a:xfrm>
          <a:prstGeom prst="rect">
            <a:avLst/>
          </a:prstGeom>
          <a:noFill/>
        </p:spPr>
        <p:txBody>
          <a:bodyPr wrap="square">
            <a:spAutoFit/>
          </a:bodyPr>
          <a:lstStyle/>
          <a:p>
            <a:pPr>
              <a:spcAft>
                <a:spcPts val="1400"/>
              </a:spcAft>
            </a:pPr>
            <a:r>
              <a:rPr sz="4000" b="1">
                <a:solidFill>
                  <a:srgbClr val="272A25"/>
                </a:solidFill>
                <a:latin typeface="Fraunces"/>
              </a:rPr>
              <a:t>A real AGENTS.md (the demo's)</a:t>
            </a:r>
          </a:p>
        </p:txBody>
      </p:sp>
      <p:sp>
        <p:nvSpPr>
          <p:cNvPr id="4" name="Rectangle 3"/>
          <p:cNvSpPr/>
          <p:nvPr/>
        </p:nvSpPr>
        <p:spPr>
          <a:xfrm>
            <a:off x="822960" y="1828800"/>
            <a:ext cx="6583680" cy="4023360"/>
          </a:xfrm>
          <a:prstGeom prst="rect">
            <a:avLst/>
          </a:prstGeom>
          <a:solidFill>
            <a:srgbClr val="EEE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011680"/>
            <a:ext cx="6217920" cy="3749039"/>
          </a:xfrm>
          <a:prstGeom prst="rect">
            <a:avLst/>
          </a:prstGeom>
          <a:noFill/>
        </p:spPr>
        <p:txBody>
          <a:bodyPr wrap="square">
            <a:spAutoFit/>
          </a:bodyPr>
          <a:lstStyle/>
          <a:p>
            <a:pPr>
              <a:spcAft>
                <a:spcPts val="200"/>
              </a:spcAft>
            </a:pPr>
            <a:r>
              <a:rPr sz="1800" b="0">
                <a:solidFill>
                  <a:srgbClr val="272A25"/>
                </a:solidFill>
                <a:latin typeface="DejaVu Sans Mono"/>
              </a:rPr>
              <a:t># Hill Plant Swap</a:t>
            </a:r>
          </a:p>
          <a:p>
            <a:pPr>
              <a:spcAft>
                <a:spcPts val="200"/>
              </a:spcAft>
            </a:pPr>
            <a:r>
              <a:rPr sz="1800" b="0">
                <a:solidFill>
                  <a:srgbClr val="272A25"/>
                </a:solidFill>
                <a:latin typeface="DejaVu Sans Mono"/>
              </a:rPr>
              <a:t>Who: first-year students on phones, nervous</a:t>
            </a:r>
          </a:p>
          <a:p>
            <a:pPr>
              <a:spcAft>
                <a:spcPts val="200"/>
              </a:spcAft>
            </a:pPr>
            <a:r>
              <a:rPr sz="1800" b="0">
                <a:solidFill>
                  <a:srgbClr val="272A25"/>
                </a:solidFill>
                <a:latin typeface="DejaVu Sans Mono"/>
              </a:rPr>
              <a:t>What: one page announcing a free monthly swap</a:t>
            </a:r>
          </a:p>
          <a:p>
            <a:pPr>
              <a:spcAft>
                <a:spcPts val="200"/>
              </a:spcAft>
            </a:pPr>
            <a:r>
              <a:rPr sz="1800" b="0">
                <a:solidFill>
                  <a:srgbClr val="272A25"/>
                </a:solidFill>
                <a:latin typeface="DejaVu Sans Mono"/>
              </a:rPr>
              <a:t>Stack: plain HTML + CSS, no JavaScript</a:t>
            </a:r>
          </a:p>
          <a:p>
            <a:pPr>
              <a:spcAft>
                <a:spcPts val="200"/>
              </a:spcAft>
            </a:pPr>
            <a:r>
              <a:rPr sz="1800" b="0">
                <a:solidFill>
                  <a:srgbClr val="272A25"/>
                </a:solidFill>
                <a:latin typeface="DejaVu Sans Mono"/>
              </a:rPr>
              <a:t>Facts: only docs/event-facts.md; never invent</a:t>
            </a:r>
          </a:p>
          <a:p>
            <a:pPr>
              <a:spcAft>
                <a:spcPts val="200"/>
              </a:spcAft>
            </a:pPr>
            <a:r>
              <a:rPr sz="1800" b="0">
                <a:solidFill>
                  <a:srgbClr val="272A25"/>
                </a:solidFill>
                <a:latin typeface="DejaVu Sans Mono"/>
              </a:rPr>
              <a:t>Done: date + place readable at 390px in 10 s</a:t>
            </a:r>
          </a:p>
        </p:txBody>
      </p:sp>
      <p:sp>
        <p:nvSpPr>
          <p:cNvPr id="6" name="TextBox 5"/>
          <p:cNvSpPr txBox="1"/>
          <p:nvPr/>
        </p:nvSpPr>
        <p:spPr>
          <a:xfrm>
            <a:off x="7772400" y="3108960"/>
            <a:ext cx="3931920" cy="1828800"/>
          </a:xfrm>
          <a:prstGeom prst="rect">
            <a:avLst/>
          </a:prstGeom>
          <a:noFill/>
        </p:spPr>
        <p:txBody>
          <a:bodyPr wrap="square">
            <a:spAutoFit/>
          </a:bodyPr>
          <a:lstStyle/>
          <a:p>
            <a:pPr>
              <a:spcAft>
                <a:spcPts val="1400"/>
              </a:spcAft>
            </a:pPr>
            <a:r>
              <a:rPr sz="2800" b="0">
                <a:solidFill>
                  <a:srgbClr val="64665D"/>
                </a:solidFill>
                <a:latin typeface="DM Sans"/>
              </a:rPr>
              <a:t>Six lines. Every session starts here.</a:t>
            </a:r>
          </a:p>
        </p:txBody>
      </p:sp>
      <p:sp>
        <p:nvSpPr>
          <p:cNvPr id="7" name="TextBox 6"/>
          <p:cNvSpPr txBox="1"/>
          <p:nvPr/>
        </p:nvSpPr>
        <p:spPr>
          <a:xfrm>
            <a:off x="822960" y="6263640"/>
            <a:ext cx="10607040" cy="365760"/>
          </a:xfrm>
          <a:prstGeom prst="rect">
            <a:avLst/>
          </a:prstGeom>
          <a:noFill/>
        </p:spPr>
        <p:txBody>
          <a:bodyPr wrap="square">
            <a:spAutoFit/>
          </a:bodyPr>
          <a:lstStyle/>
          <a:p>
            <a:pPr algn="r">
              <a:spcAft>
                <a:spcPts val="1400"/>
              </a:spcAft>
            </a:pPr>
            <a:r>
              <a:rPr sz="1600" b="0">
                <a:solidFill>
                  <a:srgbClr val="64665D"/>
                </a:solidFill>
                <a:latin typeface="DM Sans"/>
              </a:rPr>
              <a:t>Week 6 · Demo 1 · Context that sticks        8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A83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607040" cy="1188720"/>
          </a:xfrm>
          <a:prstGeom prst="rect">
            <a:avLst/>
          </a:prstGeom>
          <a:noFill/>
        </p:spPr>
        <p:txBody>
          <a:bodyPr wrap="square">
            <a:spAutoFit/>
          </a:bodyPr>
          <a:lstStyle/>
          <a:p>
            <a:pPr>
              <a:spcAft>
                <a:spcPts val="1400"/>
              </a:spcAft>
            </a:pPr>
            <a:r>
              <a:rPr sz="4000" b="1">
                <a:solidFill>
                  <a:srgbClr val="272A25"/>
                </a:solidFill>
                <a:latin typeface="Fraunces"/>
              </a:rPr>
              <a:t>Index files: a map, not a dump</a:t>
            </a:r>
          </a:p>
        </p:txBody>
      </p:sp>
      <p:sp>
        <p:nvSpPr>
          <p:cNvPr id="4" name="Rectangle 3"/>
          <p:cNvSpPr/>
          <p:nvPr/>
        </p:nvSpPr>
        <p:spPr>
          <a:xfrm>
            <a:off x="822960" y="1828800"/>
            <a:ext cx="6583680" cy="4023360"/>
          </a:xfrm>
          <a:prstGeom prst="rect">
            <a:avLst/>
          </a:prstGeom>
          <a:solidFill>
            <a:srgbClr val="EEE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011680"/>
            <a:ext cx="6217920" cy="3749039"/>
          </a:xfrm>
          <a:prstGeom prst="rect">
            <a:avLst/>
          </a:prstGeom>
          <a:noFill/>
        </p:spPr>
        <p:txBody>
          <a:bodyPr wrap="square">
            <a:spAutoFit/>
          </a:bodyPr>
          <a:lstStyle/>
          <a:p>
            <a:pPr>
              <a:spcAft>
                <a:spcPts val="200"/>
              </a:spcAft>
            </a:pPr>
            <a:r>
              <a:rPr sz="1800" b="0">
                <a:solidFill>
                  <a:srgbClr val="272A25"/>
                </a:solidFill>
                <a:latin typeface="DejaVu Sans Mono"/>
              </a:rPr>
              <a:t>## Where to look</a:t>
            </a:r>
          </a:p>
          <a:p>
            <a:pPr>
              <a:spcAft>
                <a:spcPts val="200"/>
              </a:spcAft>
            </a:pPr>
            <a:r>
              <a:rPr sz="1800" b="0">
                <a:solidFill>
                  <a:srgbClr val="272A25"/>
                </a:solidFill>
                <a:latin typeface="DejaVu Sans Mono"/>
              </a:rPr>
              <a:t>- docs/event-facts.md: the only source of facts</a:t>
            </a:r>
          </a:p>
          <a:p>
            <a:pPr>
              <a:spcAft>
                <a:spcPts val="200"/>
              </a:spcAft>
            </a:pPr>
            <a:r>
              <a:rPr sz="1800" b="0">
                <a:solidFill>
                  <a:srgbClr val="272A25"/>
                </a:solidFill>
                <a:latin typeface="DejaVu Sans Mono"/>
              </a:rPr>
              <a:t>- docs/audience.md: who visits</a:t>
            </a:r>
          </a:p>
          <a:p>
            <a:pPr>
              <a:spcAft>
                <a:spcPts val="200"/>
              </a:spcAft>
            </a:pPr>
            <a:r>
              <a:rPr sz="1800" b="0">
                <a:solidFill>
                  <a:srgbClr val="272A25"/>
                </a:solidFill>
                <a:latin typeface="DejaVu Sans Mono"/>
              </a:rPr>
              <a:t>- research/index.md: interview notes (its own index)</a:t>
            </a:r>
          </a:p>
        </p:txBody>
      </p:sp>
      <p:sp>
        <p:nvSpPr>
          <p:cNvPr id="6" name="TextBox 5"/>
          <p:cNvSpPr txBox="1"/>
          <p:nvPr/>
        </p:nvSpPr>
        <p:spPr>
          <a:xfrm>
            <a:off x="7772400" y="3108960"/>
            <a:ext cx="3931920" cy="1828800"/>
          </a:xfrm>
          <a:prstGeom prst="rect">
            <a:avLst/>
          </a:prstGeom>
          <a:noFill/>
        </p:spPr>
        <p:txBody>
          <a:bodyPr wrap="square">
            <a:spAutoFit/>
          </a:bodyPr>
          <a:lstStyle/>
          <a:p>
            <a:pPr>
              <a:spcAft>
                <a:spcPts val="1400"/>
              </a:spcAft>
            </a:pPr>
            <a:r>
              <a:rPr sz="2800" b="0">
                <a:solidFill>
                  <a:srgbClr val="64665D"/>
                </a:solidFill>
                <a:latin typeface="DM Sans"/>
              </a:rPr>
              <a:t>The AI reads the map, then opens only what it needs.</a:t>
            </a:r>
          </a:p>
        </p:txBody>
      </p:sp>
      <p:sp>
        <p:nvSpPr>
          <p:cNvPr id="7" name="TextBox 6"/>
          <p:cNvSpPr txBox="1"/>
          <p:nvPr/>
        </p:nvSpPr>
        <p:spPr>
          <a:xfrm>
            <a:off x="822960" y="6263640"/>
            <a:ext cx="10607040" cy="365760"/>
          </a:xfrm>
          <a:prstGeom prst="rect">
            <a:avLst/>
          </a:prstGeom>
          <a:noFill/>
        </p:spPr>
        <p:txBody>
          <a:bodyPr wrap="square">
            <a:spAutoFit/>
          </a:bodyPr>
          <a:lstStyle/>
          <a:p>
            <a:pPr algn="r">
              <a:spcAft>
                <a:spcPts val="1400"/>
              </a:spcAft>
            </a:pPr>
            <a:r>
              <a:rPr sz="1600" b="0">
                <a:solidFill>
                  <a:srgbClr val="64665D"/>
                </a:solidFill>
                <a:latin typeface="DM Sans"/>
              </a:rPr>
              <a:t>Week 6 · Demo 1 · Context that sticks        9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A83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607040" cy="1188720"/>
          </a:xfrm>
          <a:prstGeom prst="rect">
            <a:avLst/>
          </a:prstGeom>
          <a:noFill/>
        </p:spPr>
        <p:txBody>
          <a:bodyPr wrap="square">
            <a:spAutoFit/>
          </a:bodyPr>
          <a:lstStyle/>
          <a:p>
            <a:pPr>
              <a:spcAft>
                <a:spcPts val="1400"/>
              </a:spcAft>
            </a:pPr>
            <a:r>
              <a:rPr sz="3200" b="1">
                <a:solidFill>
                  <a:srgbClr val="272A25"/>
                </a:solidFill>
                <a:latin typeface="Fraunces"/>
              </a:rPr>
              <a:t>Your link has to work on someone else's phone</a:t>
            </a:r>
          </a:p>
        </p:txBody>
      </p:sp>
      <p:sp>
        <p:nvSpPr>
          <p:cNvPr id="4" name="Rectangle 3"/>
          <p:cNvSpPr/>
          <p:nvPr/>
        </p:nvSpPr>
        <p:spPr>
          <a:xfrm>
            <a:off x="822960" y="1828800"/>
            <a:ext cx="6583680" cy="4023360"/>
          </a:xfrm>
          <a:prstGeom prst="rect">
            <a:avLst/>
          </a:prstGeom>
          <a:solidFill>
            <a:srgbClr val="EEE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011680"/>
            <a:ext cx="6217920" cy="3749039"/>
          </a:xfrm>
          <a:prstGeom prst="rect">
            <a:avLst/>
          </a:prstGeom>
          <a:noFill/>
        </p:spPr>
        <p:txBody>
          <a:bodyPr wrap="square">
            <a:spAutoFit/>
          </a:bodyPr>
          <a:lstStyle/>
          <a:p>
            <a:pPr>
              <a:spcAft>
                <a:spcPts val="200"/>
              </a:spcAft>
            </a:pPr>
            <a:r>
              <a:rPr sz="1800" b="0">
                <a:solidFill>
                  <a:srgbClr val="272A25"/>
                </a:solidFill>
                <a:latin typeface="DejaVu Sans Mono"/>
              </a:rPr>
              <a:t>✗  file:///Users/you/Desktop/project/index.html</a:t>
            </a:r>
          </a:p>
          <a:p>
            <a:pPr>
              <a:spcAft>
                <a:spcPts val="200"/>
              </a:spcAft>
            </a:pPr>
            <a:r>
              <a:rPr sz="1800" b="0">
                <a:solidFill>
                  <a:srgbClr val="272A25"/>
                </a:solidFill>
                <a:latin typeface="DejaVu Sans Mono"/>
              </a:rPr>
              <a:t>     only works on your laptop</a:t>
            </a:r>
          </a:p>
          <a:p>
            <a:pPr>
              <a:spcAft>
                <a:spcPts val="200"/>
              </a:spcAft>
            </a:pPr>
            <a:r>
              <a:rPr sz="1800" b="0">
                <a:solidFill>
                  <a:srgbClr val="272A25"/>
                </a:solidFill>
                <a:latin typeface="DejaVu Sans Mono"/>
              </a:rPr>
              <a:t> </a:t>
            </a:r>
          </a:p>
          <a:p>
            <a:pPr>
              <a:spcAft>
                <a:spcPts val="200"/>
              </a:spcAft>
            </a:pPr>
            <a:r>
              <a:rPr sz="1800" b="0">
                <a:solidFill>
                  <a:srgbClr val="272A25"/>
                </a:solidFill>
                <a:latin typeface="DejaVu Sans Mono"/>
              </a:rPr>
              <a:t>✓  https://you.github.io/project/</a:t>
            </a:r>
          </a:p>
          <a:p>
            <a:pPr>
              <a:spcAft>
                <a:spcPts val="200"/>
              </a:spcAft>
            </a:pPr>
            <a:r>
              <a:rPr sz="1800" b="0">
                <a:solidFill>
                  <a:srgbClr val="272A25"/>
                </a:solidFill>
                <a:latin typeface="DejaVu Sans Mono"/>
              </a:rPr>
              <a:t>     works for anyone, anywhere</a:t>
            </a:r>
          </a:p>
        </p:txBody>
      </p:sp>
      <p:sp>
        <p:nvSpPr>
          <p:cNvPr id="6" name="TextBox 5"/>
          <p:cNvSpPr txBox="1"/>
          <p:nvPr/>
        </p:nvSpPr>
        <p:spPr>
          <a:xfrm>
            <a:off x="7772400" y="3108960"/>
            <a:ext cx="3931920" cy="1828800"/>
          </a:xfrm>
          <a:prstGeom prst="rect">
            <a:avLst/>
          </a:prstGeom>
          <a:noFill/>
        </p:spPr>
        <p:txBody>
          <a:bodyPr wrap="square">
            <a:spAutoFit/>
          </a:bodyPr>
          <a:lstStyle/>
          <a:p>
            <a:pPr>
              <a:spcAft>
                <a:spcPts val="1400"/>
              </a:spcAft>
            </a:pPr>
            <a:r>
              <a:rPr sz="2800" b="0">
                <a:solidFill>
                  <a:srgbClr val="64665D"/>
                </a:solidFill>
                <a:latin typeface="DM Sans"/>
              </a:rPr>
              <a:t>If it starts with file://, nobody else can see it.</a:t>
            </a:r>
          </a:p>
        </p:txBody>
      </p:sp>
      <p:sp>
        <p:nvSpPr>
          <p:cNvPr id="7" name="TextBox 6"/>
          <p:cNvSpPr txBox="1"/>
          <p:nvPr/>
        </p:nvSpPr>
        <p:spPr>
          <a:xfrm>
            <a:off x="822960" y="6263640"/>
            <a:ext cx="10607040" cy="365760"/>
          </a:xfrm>
          <a:prstGeom prst="rect">
            <a:avLst/>
          </a:prstGeom>
          <a:noFill/>
        </p:spPr>
        <p:txBody>
          <a:bodyPr wrap="square">
            <a:spAutoFit/>
          </a:bodyPr>
          <a:lstStyle/>
          <a:p>
            <a:pPr algn="r">
              <a:spcAft>
                <a:spcPts val="1400"/>
              </a:spcAft>
            </a:pPr>
            <a:r>
              <a:rPr sz="1600" b="0">
                <a:solidFill>
                  <a:srgbClr val="64665D"/>
                </a:solidFill>
                <a:latin typeface="DM Sans"/>
              </a:rPr>
              <a:t>Week 6 · Demo 2 · Get it online        10 /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A83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607040" cy="1188720"/>
          </a:xfrm>
          <a:prstGeom prst="rect">
            <a:avLst/>
          </a:prstGeom>
          <a:noFill/>
        </p:spPr>
        <p:txBody>
          <a:bodyPr wrap="square">
            <a:spAutoFit/>
          </a:bodyPr>
          <a:lstStyle/>
          <a:p>
            <a:pPr>
              <a:spcAft>
                <a:spcPts val="1400"/>
              </a:spcAft>
            </a:pPr>
            <a:r>
              <a:rPr sz="4000" b="1">
                <a:solidFill>
                  <a:srgbClr val="272A25"/>
                </a:solidFill>
                <a:latin typeface="Fraunces"/>
              </a:rPr>
              <a:t>Three different things</a:t>
            </a:r>
          </a:p>
        </p:txBody>
      </p:sp>
      <p:sp>
        <p:nvSpPr>
          <p:cNvPr id="4" name="Rounded Rectangle 3"/>
          <p:cNvSpPr/>
          <p:nvPr/>
        </p:nvSpPr>
        <p:spPr>
          <a:xfrm>
            <a:off x="822960" y="2103120"/>
            <a:ext cx="2377440" cy="1097280"/>
          </a:xfrm>
          <a:prstGeom prst="roundRect">
            <a:avLst/>
          </a:prstGeom>
          <a:solidFill>
            <a:srgbClr val="A83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rPr>
              <a:t>Folder</a:t>
            </a:r>
          </a:p>
        </p:txBody>
      </p:sp>
      <p:sp>
        <p:nvSpPr>
          <p:cNvPr id="5" name="Right Arrow 4"/>
          <p:cNvSpPr/>
          <p:nvPr/>
        </p:nvSpPr>
        <p:spPr>
          <a:xfrm>
            <a:off x="3246120" y="2468880"/>
            <a:ext cx="320040" cy="365760"/>
          </a:xfrm>
          <a:prstGeom prst="rightArrow">
            <a:avLst/>
          </a:prstGeom>
          <a:solidFill>
            <a:srgbClr val="646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611880" y="2103120"/>
            <a:ext cx="2377440" cy="1097280"/>
          </a:xfrm>
          <a:prstGeom prst="roundRect">
            <a:avLst/>
          </a:prstGeom>
          <a:solidFill>
            <a:srgbClr val="272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rPr>
              <a:t>Commit</a:t>
            </a:r>
          </a:p>
        </p:txBody>
      </p:sp>
      <p:sp>
        <p:nvSpPr>
          <p:cNvPr id="7" name="Right Arrow 6"/>
          <p:cNvSpPr/>
          <p:nvPr/>
        </p:nvSpPr>
        <p:spPr>
          <a:xfrm>
            <a:off x="6035040" y="2468880"/>
            <a:ext cx="320040" cy="365760"/>
          </a:xfrm>
          <a:prstGeom prst="rightArrow">
            <a:avLst/>
          </a:prstGeom>
          <a:solidFill>
            <a:srgbClr val="646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0" y="2103120"/>
            <a:ext cx="2377440" cy="1097280"/>
          </a:xfrm>
          <a:prstGeom prst="roundRect">
            <a:avLst/>
          </a:prstGeom>
          <a:solidFill>
            <a:srgbClr val="272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rPr>
              <a:t>Push</a:t>
            </a:r>
          </a:p>
        </p:txBody>
      </p:sp>
      <p:sp>
        <p:nvSpPr>
          <p:cNvPr id="9" name="Right Arrow 8"/>
          <p:cNvSpPr/>
          <p:nvPr/>
        </p:nvSpPr>
        <p:spPr>
          <a:xfrm>
            <a:off x="8823960" y="2468880"/>
            <a:ext cx="320040" cy="365760"/>
          </a:xfrm>
          <a:prstGeom prst="rightArrow">
            <a:avLst/>
          </a:prstGeom>
          <a:solidFill>
            <a:srgbClr val="646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89720" y="2103120"/>
            <a:ext cx="2377440" cy="1097280"/>
          </a:xfrm>
          <a:prstGeom prst="roundRect">
            <a:avLst/>
          </a:prstGeom>
          <a:solidFill>
            <a:srgbClr val="272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rPr>
              <a:t>Live link</a:t>
            </a:r>
          </a:p>
        </p:txBody>
      </p:sp>
      <p:sp>
        <p:nvSpPr>
          <p:cNvPr id="11" name="TextBox 10"/>
          <p:cNvSpPr txBox="1"/>
          <p:nvPr/>
        </p:nvSpPr>
        <p:spPr>
          <a:xfrm>
            <a:off x="822960" y="3931920"/>
            <a:ext cx="10607040" cy="2286000"/>
          </a:xfrm>
          <a:prstGeom prst="rect">
            <a:avLst/>
          </a:prstGeom>
          <a:noFill/>
        </p:spPr>
        <p:txBody>
          <a:bodyPr wrap="square">
            <a:spAutoFit/>
          </a:bodyPr>
          <a:lstStyle/>
          <a:p>
            <a:pPr>
              <a:spcAft>
                <a:spcPts val="1800"/>
              </a:spcAft>
            </a:pPr>
            <a:r>
              <a:rPr sz="2800" b="0">
                <a:solidFill>
                  <a:srgbClr val="272A25"/>
                </a:solidFill>
                <a:latin typeface="DM Sans"/>
              </a:rPr>
              <a:t>•  Git: save points for your project, on your laptop</a:t>
            </a:r>
          </a:p>
          <a:p>
            <a:pPr>
              <a:spcAft>
                <a:spcPts val="1800"/>
              </a:spcAft>
            </a:pPr>
            <a:r>
              <a:rPr sz="2800" b="0">
                <a:solidFill>
                  <a:srgbClr val="272A25"/>
                </a:solidFill>
                <a:latin typeface="DM Sans"/>
              </a:rPr>
              <a:t>•  GitHub: a copy of those save points, online</a:t>
            </a:r>
          </a:p>
          <a:p>
            <a:pPr>
              <a:spcAft>
                <a:spcPts val="1800"/>
              </a:spcAft>
            </a:pPr>
            <a:r>
              <a:rPr sz="2800" b="0">
                <a:solidFill>
                  <a:srgbClr val="272A25"/>
                </a:solidFill>
                <a:latin typeface="DM Sans"/>
              </a:rPr>
              <a:t>•  Pages / Vercel: turns that copy into a website</a:t>
            </a:r>
          </a:p>
        </p:txBody>
      </p:sp>
      <p:sp>
        <p:nvSpPr>
          <p:cNvPr id="12" name="TextBox 11"/>
          <p:cNvSpPr txBox="1"/>
          <p:nvPr/>
        </p:nvSpPr>
        <p:spPr>
          <a:xfrm>
            <a:off x="822960" y="6263640"/>
            <a:ext cx="10607040" cy="365760"/>
          </a:xfrm>
          <a:prstGeom prst="rect">
            <a:avLst/>
          </a:prstGeom>
          <a:noFill/>
        </p:spPr>
        <p:txBody>
          <a:bodyPr wrap="square">
            <a:spAutoFit/>
          </a:bodyPr>
          <a:lstStyle/>
          <a:p>
            <a:pPr algn="r">
              <a:spcAft>
                <a:spcPts val="1400"/>
              </a:spcAft>
            </a:pPr>
            <a:r>
              <a:rPr sz="1600" b="0">
                <a:solidFill>
                  <a:srgbClr val="64665D"/>
                </a:solidFill>
                <a:latin typeface="DM Sans"/>
              </a:rPr>
              <a:t>Week 6 · Demo 2 · Get it online        11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A83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607040" cy="1188720"/>
          </a:xfrm>
          <a:prstGeom prst="rect">
            <a:avLst/>
          </a:prstGeom>
          <a:noFill/>
        </p:spPr>
        <p:txBody>
          <a:bodyPr wrap="square">
            <a:spAutoFit/>
          </a:bodyPr>
          <a:lstStyle/>
          <a:p>
            <a:pPr>
              <a:spcAft>
                <a:spcPts val="1400"/>
              </a:spcAft>
            </a:pPr>
            <a:r>
              <a:rPr sz="4000" b="1">
                <a:solidFill>
                  <a:srgbClr val="272A25"/>
                </a:solidFill>
                <a:latin typeface="Fraunces"/>
              </a:rPr>
              <a:t>Live demo · from folder to link</a:t>
            </a:r>
          </a:p>
        </p:txBody>
      </p:sp>
      <p:sp>
        <p:nvSpPr>
          <p:cNvPr id="4" name="Rectangle 3"/>
          <p:cNvSpPr/>
          <p:nvPr/>
        </p:nvSpPr>
        <p:spPr>
          <a:xfrm>
            <a:off x="822960" y="1828800"/>
            <a:ext cx="6583680" cy="4023360"/>
          </a:xfrm>
          <a:prstGeom prst="rect">
            <a:avLst/>
          </a:prstGeom>
          <a:solidFill>
            <a:srgbClr val="EEE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011680"/>
            <a:ext cx="6217920" cy="3749039"/>
          </a:xfrm>
          <a:prstGeom prst="rect">
            <a:avLst/>
          </a:prstGeom>
          <a:noFill/>
        </p:spPr>
        <p:txBody>
          <a:bodyPr wrap="square">
            <a:spAutoFit/>
          </a:bodyPr>
          <a:lstStyle/>
          <a:p>
            <a:pPr>
              <a:spcAft>
                <a:spcPts val="200"/>
              </a:spcAft>
            </a:pPr>
            <a:r>
              <a:rPr sz="1800" b="0">
                <a:solidFill>
                  <a:srgbClr val="272A25"/>
                </a:solidFill>
                <a:latin typeface="DejaVu Sans Mono"/>
              </a:rPr>
              <a:t>1 · Download the project folder</a:t>
            </a:r>
          </a:p>
          <a:p>
            <a:pPr>
              <a:spcAft>
                <a:spcPts val="200"/>
              </a:spcAft>
            </a:pPr>
            <a:r>
              <a:rPr sz="1800" b="0">
                <a:solidFill>
                  <a:srgbClr val="272A25"/>
                </a:solidFill>
                <a:latin typeface="DejaVu Sans Mono"/>
              </a:rPr>
              <a:t>2 · GitHub Desktop: create repo, commit, publish</a:t>
            </a:r>
          </a:p>
          <a:p>
            <a:pPr>
              <a:spcAft>
                <a:spcPts val="200"/>
              </a:spcAft>
            </a:pPr>
            <a:r>
              <a:rPr sz="1800" b="0">
                <a:solidFill>
                  <a:srgbClr val="272A25"/>
                </a:solidFill>
                <a:latin typeface="DejaVu Sans Mono"/>
              </a:rPr>
              <a:t>3 · Settings → Pages → main → Save</a:t>
            </a:r>
          </a:p>
          <a:p>
            <a:pPr>
              <a:spcAft>
                <a:spcPts val="200"/>
              </a:spcAft>
            </a:pPr>
            <a:r>
              <a:rPr sz="1800" b="0">
                <a:solidFill>
                  <a:srgbClr val="272A25"/>
                </a:solidFill>
                <a:latin typeface="DejaVu Sans Mono"/>
              </a:rPr>
              <a:t>4 · Open the link on a phone</a:t>
            </a:r>
          </a:p>
          <a:p>
            <a:pPr>
              <a:spcAft>
                <a:spcPts val="200"/>
              </a:spcAft>
            </a:pPr>
            <a:r>
              <a:rPr sz="1800" b="0">
                <a:solidFill>
                  <a:srgbClr val="272A25"/>
                </a:solidFill>
                <a:latin typeface="DejaVu Sans Mono"/>
              </a:rPr>
              <a:t>5 · Change something, commit, push, refresh</a:t>
            </a:r>
          </a:p>
        </p:txBody>
      </p:sp>
      <p:sp>
        <p:nvSpPr>
          <p:cNvPr id="6" name="TextBox 5"/>
          <p:cNvSpPr txBox="1"/>
          <p:nvPr/>
        </p:nvSpPr>
        <p:spPr>
          <a:xfrm>
            <a:off x="7772400" y="3108960"/>
            <a:ext cx="3931920" cy="1828800"/>
          </a:xfrm>
          <a:prstGeom prst="rect">
            <a:avLst/>
          </a:prstGeom>
          <a:noFill/>
        </p:spPr>
        <p:txBody>
          <a:bodyPr wrap="square">
            <a:spAutoFit/>
          </a:bodyPr>
          <a:lstStyle/>
          <a:p>
            <a:pPr>
              <a:spcAft>
                <a:spcPts val="1400"/>
              </a:spcAft>
            </a:pPr>
            <a:r>
              <a:rPr sz="2800" b="0">
                <a:solidFill>
                  <a:srgbClr val="64665D"/>
                </a:solidFill>
                <a:latin typeface="DM Sans"/>
              </a:rPr>
              <a:t>Handout: “Get your project online”, step by step.</a:t>
            </a:r>
          </a:p>
        </p:txBody>
      </p:sp>
      <p:sp>
        <p:nvSpPr>
          <p:cNvPr id="7" name="TextBox 6"/>
          <p:cNvSpPr txBox="1"/>
          <p:nvPr/>
        </p:nvSpPr>
        <p:spPr>
          <a:xfrm>
            <a:off x="822960" y="6263640"/>
            <a:ext cx="10607040" cy="365760"/>
          </a:xfrm>
          <a:prstGeom prst="rect">
            <a:avLst/>
          </a:prstGeom>
          <a:noFill/>
        </p:spPr>
        <p:txBody>
          <a:bodyPr wrap="square">
            <a:spAutoFit/>
          </a:bodyPr>
          <a:lstStyle/>
          <a:p>
            <a:pPr algn="r">
              <a:spcAft>
                <a:spcPts val="1400"/>
              </a:spcAft>
            </a:pPr>
            <a:r>
              <a:rPr sz="1600" b="0">
                <a:solidFill>
                  <a:srgbClr val="64665D"/>
                </a:solidFill>
                <a:latin typeface="DM Sans"/>
              </a:rPr>
              <a:t>Week 6 · Demo 2 · Get it online        12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A83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607040" cy="1188720"/>
          </a:xfrm>
          <a:prstGeom prst="rect">
            <a:avLst/>
          </a:prstGeom>
          <a:noFill/>
        </p:spPr>
        <p:txBody>
          <a:bodyPr wrap="square">
            <a:spAutoFit/>
          </a:bodyPr>
          <a:lstStyle/>
          <a:p>
            <a:pPr>
              <a:spcAft>
                <a:spcPts val="1400"/>
              </a:spcAft>
            </a:pPr>
            <a:r>
              <a:rPr sz="4000" b="1">
                <a:solidFill>
                  <a:srgbClr val="272A25"/>
                </a:solidFill>
                <a:latin typeface="Fraunces"/>
              </a:rPr>
              <a:t>When the link doesn't work</a:t>
            </a:r>
          </a:p>
        </p:txBody>
      </p:sp>
      <p:sp>
        <p:nvSpPr>
          <p:cNvPr id="4" name="TextBox 3"/>
          <p:cNvSpPr txBox="1"/>
          <p:nvPr/>
        </p:nvSpPr>
        <p:spPr>
          <a:xfrm>
            <a:off x="822960" y="2011680"/>
            <a:ext cx="10607040" cy="4206240"/>
          </a:xfrm>
          <a:prstGeom prst="rect">
            <a:avLst/>
          </a:prstGeom>
          <a:noFill/>
        </p:spPr>
        <p:txBody>
          <a:bodyPr wrap="square">
            <a:spAutoFit/>
          </a:bodyPr>
          <a:lstStyle/>
          <a:p>
            <a:pPr>
              <a:spcAft>
                <a:spcPts val="1600"/>
              </a:spcAft>
            </a:pPr>
            <a:r>
              <a:rPr sz="2600" b="0">
                <a:solidFill>
                  <a:srgbClr val="272A25"/>
                </a:solidFill>
                <a:latin typeface="DM Sans"/>
              </a:rPr>
              <a:t>•  404: wait 1–2 min, then check Settings → Pages</a:t>
            </a:r>
          </a:p>
          <a:p>
            <a:pPr>
              <a:spcAft>
                <a:spcPts val="1600"/>
              </a:spcAft>
            </a:pPr>
            <a:r>
              <a:rPr sz="2600" b="0">
                <a:solidFill>
                  <a:srgbClr val="272A25"/>
                </a:solidFill>
                <a:latin typeface="DM Sans"/>
              </a:rPr>
              <a:t>•  Page with no styles: paths start with / (use style.css)</a:t>
            </a:r>
          </a:p>
          <a:p>
            <a:pPr>
              <a:spcAft>
                <a:spcPts val="1600"/>
              </a:spcAft>
            </a:pPr>
            <a:r>
              <a:rPr sz="2600" b="0">
                <a:solidFill>
                  <a:srgbClr val="272A25"/>
                </a:solidFill>
                <a:latin typeface="DM Sans"/>
              </a:rPr>
              <a:t>•  Only the README shows: index.html must be in the top folder</a:t>
            </a:r>
          </a:p>
          <a:p>
            <a:pPr>
              <a:spcAft>
                <a:spcPts val="1600"/>
              </a:spcAft>
            </a:pPr>
            <a:r>
              <a:rPr sz="2600" b="0">
                <a:solidFill>
                  <a:srgbClr val="272A25"/>
                </a:solidFill>
                <a:latin typeface="DM Sans"/>
              </a:rPr>
              <a:t>•  Old version: hard refresh, or wait a minute</a:t>
            </a:r>
          </a:p>
          <a:p>
            <a:pPr>
              <a:spcAft>
                <a:spcPts val="1600"/>
              </a:spcAft>
            </a:pPr>
            <a:r>
              <a:rPr sz="2600" b="0">
                <a:solidFill>
                  <a:srgbClr val="272A25"/>
                </a:solidFill>
                <a:latin typeface="DM Sans"/>
              </a:rPr>
              <a:t>•  Private repo on a free plan: make it public, or use Vercel</a:t>
            </a:r>
          </a:p>
        </p:txBody>
      </p:sp>
      <p:sp>
        <p:nvSpPr>
          <p:cNvPr id="5" name="TextBox 4"/>
          <p:cNvSpPr txBox="1"/>
          <p:nvPr/>
        </p:nvSpPr>
        <p:spPr>
          <a:xfrm>
            <a:off x="822960" y="6263640"/>
            <a:ext cx="10607040" cy="365760"/>
          </a:xfrm>
          <a:prstGeom prst="rect">
            <a:avLst/>
          </a:prstGeom>
          <a:noFill/>
        </p:spPr>
        <p:txBody>
          <a:bodyPr wrap="square">
            <a:spAutoFit/>
          </a:bodyPr>
          <a:lstStyle/>
          <a:p>
            <a:pPr algn="r">
              <a:spcAft>
                <a:spcPts val="1400"/>
              </a:spcAft>
            </a:pPr>
            <a:r>
              <a:rPr sz="1600" b="0">
                <a:solidFill>
                  <a:srgbClr val="64665D"/>
                </a:solidFill>
                <a:latin typeface="DM Sans"/>
              </a:rPr>
              <a:t>Week 6 · Demo 2 · Get it online        13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A83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607040" cy="1188720"/>
          </a:xfrm>
          <a:prstGeom prst="rect">
            <a:avLst/>
          </a:prstGeom>
          <a:noFill/>
        </p:spPr>
        <p:txBody>
          <a:bodyPr wrap="square">
            <a:spAutoFit/>
          </a:bodyPr>
          <a:lstStyle/>
          <a:p>
            <a:pPr>
              <a:spcAft>
                <a:spcPts val="1400"/>
              </a:spcAft>
            </a:pPr>
            <a:r>
              <a:rPr sz="4000" b="1">
                <a:solidFill>
                  <a:srgbClr val="272A25"/>
                </a:solidFill>
                <a:latin typeface="Fraunces"/>
              </a:rPr>
              <a:t>API vs. MCP</a:t>
            </a:r>
          </a:p>
        </p:txBody>
      </p:sp>
      <p:sp>
        <p:nvSpPr>
          <p:cNvPr id="4" name="TextBox 3"/>
          <p:cNvSpPr txBox="1"/>
          <p:nvPr/>
        </p:nvSpPr>
        <p:spPr>
          <a:xfrm>
            <a:off x="822960" y="2011680"/>
            <a:ext cx="10607040" cy="4206240"/>
          </a:xfrm>
          <a:prstGeom prst="rect">
            <a:avLst/>
          </a:prstGeom>
          <a:noFill/>
        </p:spPr>
        <p:txBody>
          <a:bodyPr wrap="square">
            <a:spAutoFit/>
          </a:bodyPr>
          <a:lstStyle/>
          <a:p>
            <a:pPr>
              <a:spcAft>
                <a:spcPts val="2200"/>
              </a:spcAft>
            </a:pPr>
            <a:r>
              <a:rPr sz="3000" b="0">
                <a:solidFill>
                  <a:srgbClr val="272A25"/>
                </a:solidFill>
                <a:latin typeface="DM Sans"/>
              </a:rPr>
              <a:t>•  API: one service's own menu of requests</a:t>
            </a:r>
          </a:p>
          <a:p>
            <a:pPr>
              <a:spcAft>
                <a:spcPts val="2200"/>
              </a:spcAft>
            </a:pPr>
            <a:r>
              <a:rPr sz="3000" b="0">
                <a:solidFill>
                  <a:srgbClr val="272A25"/>
                </a:solidFill>
                <a:latin typeface="DM Sans"/>
              </a:rPr>
              <a:t>•  MCP: one standard plug for AI apps to use many tools</a:t>
            </a:r>
          </a:p>
          <a:p>
            <a:pPr>
              <a:spcAft>
                <a:spcPts val="2200"/>
              </a:spcAft>
            </a:pPr>
            <a:r>
              <a:rPr sz="3000" b="0">
                <a:solidFill>
                  <a:srgbClr val="272A25"/>
                </a:solidFill>
                <a:latin typeface="DM Sans"/>
              </a:rPr>
              <a:t>•  MCP servers often call APIs underneath</a:t>
            </a:r>
          </a:p>
        </p:txBody>
      </p:sp>
      <p:sp>
        <p:nvSpPr>
          <p:cNvPr id="5" name="TextBox 4"/>
          <p:cNvSpPr txBox="1"/>
          <p:nvPr/>
        </p:nvSpPr>
        <p:spPr>
          <a:xfrm>
            <a:off x="822960" y="6263640"/>
            <a:ext cx="10607040" cy="365760"/>
          </a:xfrm>
          <a:prstGeom prst="rect">
            <a:avLst/>
          </a:prstGeom>
          <a:noFill/>
        </p:spPr>
        <p:txBody>
          <a:bodyPr wrap="square">
            <a:spAutoFit/>
          </a:bodyPr>
          <a:lstStyle/>
          <a:p>
            <a:pPr algn="r">
              <a:spcAft>
                <a:spcPts val="1400"/>
              </a:spcAft>
            </a:pPr>
            <a:r>
              <a:rPr sz="1600" b="0">
                <a:solidFill>
                  <a:srgbClr val="64665D"/>
                </a:solidFill>
                <a:latin typeface="DM Sans"/>
              </a:rPr>
              <a:t>Week 6 · Demo 3 · Connectors        14 /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A83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607040" cy="1188720"/>
          </a:xfrm>
          <a:prstGeom prst="rect">
            <a:avLst/>
          </a:prstGeom>
          <a:noFill/>
        </p:spPr>
        <p:txBody>
          <a:bodyPr wrap="square">
            <a:spAutoFit/>
          </a:bodyPr>
          <a:lstStyle/>
          <a:p>
            <a:pPr>
              <a:spcAft>
                <a:spcPts val="1400"/>
              </a:spcAft>
            </a:pPr>
            <a:r>
              <a:rPr sz="3200" b="1">
                <a:solidFill>
                  <a:srgbClr val="272A25"/>
                </a:solidFill>
                <a:latin typeface="Fraunces"/>
              </a:rPr>
              <a:t>Live demo · connect your AI to this course</a:t>
            </a:r>
          </a:p>
        </p:txBody>
      </p:sp>
      <p:sp>
        <p:nvSpPr>
          <p:cNvPr id="4" name="TextBox 3"/>
          <p:cNvSpPr txBox="1"/>
          <p:nvPr/>
        </p:nvSpPr>
        <p:spPr>
          <a:xfrm>
            <a:off x="822960" y="2011680"/>
            <a:ext cx="10607040" cy="4206240"/>
          </a:xfrm>
          <a:prstGeom prst="rect">
            <a:avLst/>
          </a:prstGeom>
          <a:noFill/>
        </p:spPr>
        <p:txBody>
          <a:bodyPr wrap="square">
            <a:spAutoFit/>
          </a:bodyPr>
          <a:lstStyle/>
          <a:p>
            <a:pPr>
              <a:spcAft>
                <a:spcPts val="2200"/>
              </a:spcAft>
            </a:pPr>
            <a:r>
              <a:rPr sz="3000" b="0">
                <a:solidFill>
                  <a:srgbClr val="272A25"/>
                </a:solidFill>
                <a:latin typeface="DM Sans"/>
              </a:rPr>
              <a:t>•  https://api.learnvibe.build/mcp</a:t>
            </a:r>
          </a:p>
          <a:p>
            <a:pPr>
              <a:spcAft>
                <a:spcPts val="2200"/>
              </a:spcAft>
            </a:pPr>
            <a:r>
              <a:rPr sz="3000" b="0">
                <a:solidFill>
                  <a:srgbClr val="272A25"/>
                </a:solidFill>
                <a:latin typeface="DM Sans"/>
              </a:rPr>
              <a:t>•  Add it as a custom connector (or `claude mcp add`)</a:t>
            </a:r>
          </a:p>
          <a:p>
            <a:pPr>
              <a:spcAft>
                <a:spcPts val="2200"/>
              </a:spcAft>
            </a:pPr>
            <a:r>
              <a:rPr sz="3000" b="0">
                <a:solidFill>
                  <a:srgbClr val="272A25"/>
                </a:solidFill>
                <a:latin typeface="DM Sans"/>
              </a:rPr>
              <a:t>•  Ask: “Using the course connector, teach me tonight's lesson on AGENTS.md, then quiz me.”</a:t>
            </a:r>
          </a:p>
        </p:txBody>
      </p:sp>
      <p:sp>
        <p:nvSpPr>
          <p:cNvPr id="5" name="TextBox 4"/>
          <p:cNvSpPr txBox="1"/>
          <p:nvPr/>
        </p:nvSpPr>
        <p:spPr>
          <a:xfrm>
            <a:off x="822960" y="6263640"/>
            <a:ext cx="10607040" cy="365760"/>
          </a:xfrm>
          <a:prstGeom prst="rect">
            <a:avLst/>
          </a:prstGeom>
          <a:noFill/>
        </p:spPr>
        <p:txBody>
          <a:bodyPr wrap="square">
            <a:spAutoFit/>
          </a:bodyPr>
          <a:lstStyle/>
          <a:p>
            <a:pPr algn="r">
              <a:spcAft>
                <a:spcPts val="1400"/>
              </a:spcAft>
            </a:pPr>
            <a:r>
              <a:rPr sz="1600" b="0">
                <a:solidFill>
                  <a:srgbClr val="64665D"/>
                </a:solidFill>
                <a:latin typeface="DM Sans"/>
              </a:rPr>
              <a:t>Week 6 · Demo 3 · Connectors        15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A83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607040" cy="1188720"/>
          </a:xfrm>
          <a:prstGeom prst="rect">
            <a:avLst/>
          </a:prstGeom>
          <a:noFill/>
        </p:spPr>
        <p:txBody>
          <a:bodyPr wrap="square">
            <a:spAutoFit/>
          </a:bodyPr>
          <a:lstStyle/>
          <a:p>
            <a:pPr>
              <a:spcAft>
                <a:spcPts val="1400"/>
              </a:spcAft>
            </a:pPr>
            <a:r>
              <a:rPr sz="4000" b="1">
                <a:solidFill>
                  <a:srgbClr val="272A25"/>
                </a:solidFill>
                <a:latin typeface="Fraunces"/>
              </a:rPr>
              <a:t>Choose · check · control</a:t>
            </a:r>
          </a:p>
        </p:txBody>
      </p:sp>
      <p:sp>
        <p:nvSpPr>
          <p:cNvPr id="4" name="TextBox 3"/>
          <p:cNvSpPr txBox="1"/>
          <p:nvPr/>
        </p:nvSpPr>
        <p:spPr>
          <a:xfrm>
            <a:off x="822960" y="2011680"/>
            <a:ext cx="10607040" cy="4206240"/>
          </a:xfrm>
          <a:prstGeom prst="rect">
            <a:avLst/>
          </a:prstGeom>
          <a:noFill/>
        </p:spPr>
        <p:txBody>
          <a:bodyPr wrap="square">
            <a:spAutoFit/>
          </a:bodyPr>
          <a:lstStyle/>
          <a:p>
            <a:pPr>
              <a:spcAft>
                <a:spcPts val="1600"/>
              </a:spcAft>
            </a:pPr>
            <a:r>
              <a:rPr sz="2600" b="0">
                <a:solidFill>
                  <a:srgbClr val="272A25"/>
                </a:solidFill>
                <a:latin typeface="DM Sans"/>
              </a:rPr>
              <a:t>•  Choose what it sees: context files, connectors</a:t>
            </a:r>
          </a:p>
          <a:p>
            <a:pPr>
              <a:spcAft>
                <a:spcPts val="1600"/>
              </a:spcAft>
            </a:pPr>
            <a:r>
              <a:rPr sz="2600" b="0">
                <a:solidFill>
                  <a:srgbClr val="272A25"/>
                </a:solidFill>
                <a:latin typeface="DM Sans"/>
              </a:rPr>
              <a:t>•  Check what it produces: fluent ≠ correct, say what you checked</a:t>
            </a:r>
          </a:p>
          <a:p>
            <a:pPr>
              <a:spcAft>
                <a:spcPts val="1600"/>
              </a:spcAft>
            </a:pPr>
            <a:r>
              <a:rPr sz="2600" b="0">
                <a:solidFill>
                  <a:srgbClr val="272A25"/>
                </a:solidFill>
                <a:latin typeface="DM Sans"/>
              </a:rPr>
              <a:t>•  Control what it can change: read-only first, ask before writes</a:t>
            </a:r>
          </a:p>
          <a:p>
            <a:pPr>
              <a:spcAft>
                <a:spcPts val="1600"/>
              </a:spcAft>
            </a:pPr>
            <a:r>
              <a:rPr sz="2600" b="0">
                <a:solidFill>
                  <a:srgbClr val="272A25"/>
                </a:solidFill>
                <a:latin typeface="DM Sans"/>
              </a:rPr>
              <a:t>•  This course's connector is read-only, on purpose</a:t>
            </a:r>
          </a:p>
        </p:txBody>
      </p:sp>
      <p:sp>
        <p:nvSpPr>
          <p:cNvPr id="5" name="TextBox 4"/>
          <p:cNvSpPr txBox="1"/>
          <p:nvPr/>
        </p:nvSpPr>
        <p:spPr>
          <a:xfrm>
            <a:off x="822960" y="6263640"/>
            <a:ext cx="10607040" cy="365760"/>
          </a:xfrm>
          <a:prstGeom prst="rect">
            <a:avLst/>
          </a:prstGeom>
          <a:noFill/>
        </p:spPr>
        <p:txBody>
          <a:bodyPr wrap="square">
            <a:spAutoFit/>
          </a:bodyPr>
          <a:lstStyle/>
          <a:p>
            <a:pPr algn="r">
              <a:spcAft>
                <a:spcPts val="1400"/>
              </a:spcAft>
            </a:pPr>
            <a:r>
              <a:rPr sz="1600" b="0">
                <a:solidFill>
                  <a:srgbClr val="64665D"/>
                </a:solidFill>
                <a:latin typeface="DM Sans"/>
              </a:rPr>
              <a:t>Week 6 · Demo 3 · Connectors        16 /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A83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607040" cy="1188720"/>
          </a:xfrm>
          <a:prstGeom prst="rect">
            <a:avLst/>
          </a:prstGeom>
          <a:noFill/>
        </p:spPr>
        <p:txBody>
          <a:bodyPr wrap="square">
            <a:spAutoFit/>
          </a:bodyPr>
          <a:lstStyle/>
          <a:p>
            <a:pPr>
              <a:spcAft>
                <a:spcPts val="1400"/>
              </a:spcAft>
            </a:pPr>
            <a:r>
              <a:rPr sz="4000" b="1">
                <a:solidFill>
                  <a:srgbClr val="272A25"/>
                </a:solidFill>
                <a:latin typeface="Fraunces"/>
              </a:rPr>
              <a:t>This week's reading: your AI as a coach</a:t>
            </a:r>
          </a:p>
        </p:txBody>
      </p:sp>
      <p:sp>
        <p:nvSpPr>
          <p:cNvPr id="4" name="TextBox 3"/>
          <p:cNvSpPr txBox="1"/>
          <p:nvPr/>
        </p:nvSpPr>
        <p:spPr>
          <a:xfrm>
            <a:off x="822960" y="2011680"/>
            <a:ext cx="10607040" cy="4206240"/>
          </a:xfrm>
          <a:prstGeom prst="rect">
            <a:avLst/>
          </a:prstGeom>
          <a:noFill/>
        </p:spPr>
        <p:txBody>
          <a:bodyPr wrap="square">
            <a:spAutoFit/>
          </a:bodyPr>
          <a:lstStyle/>
          <a:p>
            <a:pPr>
              <a:spcAft>
                <a:spcPts val="2200"/>
              </a:spcAft>
            </a:pPr>
            <a:r>
              <a:rPr sz="3000" b="0">
                <a:solidFill>
                  <a:srgbClr val="272A25"/>
                </a:solidFill>
                <a:latin typeface="DM Sans"/>
              </a:rPr>
              <a:t>•  Arielle Shipper, “How to Get Better at AI by Asking AI” (Every)</a:t>
            </a:r>
          </a:p>
          <a:p>
            <a:pPr>
              <a:spcAft>
                <a:spcPts val="2200"/>
              </a:spcAft>
            </a:pPr>
            <a:r>
              <a:rPr sz="3000" b="0">
                <a:solidFill>
                  <a:srgbClr val="272A25"/>
                </a:solidFill>
                <a:latin typeface="DM Sans"/>
              </a:rPr>
              <a:t>•  Ask your AI: which of the eight levels am I, with examples?</a:t>
            </a:r>
          </a:p>
          <a:p>
            <a:pPr>
              <a:spcAft>
                <a:spcPts val="2200"/>
              </a:spcAft>
            </a:pPr>
            <a:r>
              <a:rPr sz="3000" b="0">
                <a:solidFill>
                  <a:srgbClr val="272A25"/>
                </a:solidFill>
                <a:latin typeface="DM Sans"/>
              </a:rPr>
              <a:t>•  Then: “teach me the next step”</a:t>
            </a:r>
          </a:p>
        </p:txBody>
      </p:sp>
      <p:sp>
        <p:nvSpPr>
          <p:cNvPr id="5" name="TextBox 4"/>
          <p:cNvSpPr txBox="1"/>
          <p:nvPr/>
        </p:nvSpPr>
        <p:spPr>
          <a:xfrm>
            <a:off x="822960" y="6263640"/>
            <a:ext cx="10607040" cy="365760"/>
          </a:xfrm>
          <a:prstGeom prst="rect">
            <a:avLst/>
          </a:prstGeom>
          <a:noFill/>
        </p:spPr>
        <p:txBody>
          <a:bodyPr wrap="square">
            <a:spAutoFit/>
          </a:bodyPr>
          <a:lstStyle/>
          <a:p>
            <a:pPr algn="r">
              <a:spcAft>
                <a:spcPts val="1400"/>
              </a:spcAft>
            </a:pPr>
            <a:r>
              <a:rPr sz="1600" b="0">
                <a:solidFill>
                  <a:srgbClr val="64665D"/>
                </a:solidFill>
                <a:latin typeface="DM Sans"/>
              </a:rPr>
              <a:t>Week 6 · Close        17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A83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607040" cy="1188720"/>
          </a:xfrm>
          <a:prstGeom prst="rect">
            <a:avLst/>
          </a:prstGeom>
          <a:noFill/>
        </p:spPr>
        <p:txBody>
          <a:bodyPr wrap="square">
            <a:spAutoFit/>
          </a:bodyPr>
          <a:lstStyle/>
          <a:p>
            <a:pPr>
              <a:spcAft>
                <a:spcPts val="1400"/>
              </a:spcAft>
            </a:pPr>
            <a:r>
              <a:rPr sz="4000" b="1">
                <a:solidFill>
                  <a:srgbClr val="272A25"/>
                </a:solidFill>
                <a:latin typeface="Fraunces"/>
              </a:rPr>
              <a:t>Studio · write each other's AGENTS.md</a:t>
            </a:r>
          </a:p>
        </p:txBody>
      </p:sp>
      <p:sp>
        <p:nvSpPr>
          <p:cNvPr id="4" name="TextBox 3"/>
          <p:cNvSpPr txBox="1"/>
          <p:nvPr/>
        </p:nvSpPr>
        <p:spPr>
          <a:xfrm>
            <a:off x="822960" y="2011680"/>
            <a:ext cx="10607040" cy="4206240"/>
          </a:xfrm>
          <a:prstGeom prst="rect">
            <a:avLst/>
          </a:prstGeom>
          <a:noFill/>
        </p:spPr>
        <p:txBody>
          <a:bodyPr wrap="square">
            <a:spAutoFit/>
          </a:bodyPr>
          <a:lstStyle/>
          <a:p>
            <a:pPr>
              <a:spcAft>
                <a:spcPts val="2200"/>
              </a:spcAft>
            </a:pPr>
            <a:r>
              <a:rPr sz="3000" b="0">
                <a:solidFill>
                  <a:srgbClr val="272A25"/>
                </a:solidFill>
                <a:latin typeface="DM Sans"/>
              </a:rPr>
              <a:t>•  Pairs, 20 minutes</a:t>
            </a:r>
          </a:p>
          <a:p>
            <a:pPr>
              <a:spcAft>
                <a:spcPts val="2200"/>
              </a:spcAft>
            </a:pPr>
            <a:r>
              <a:rPr sz="3000" b="0">
                <a:solidFill>
                  <a:srgbClr val="272A25"/>
                </a:solidFill>
                <a:latin typeface="DM Sans"/>
              </a:rPr>
              <a:t>•  8 min each: your partner interviews you and drafts your AGENTS.md</a:t>
            </a:r>
          </a:p>
          <a:p>
            <a:pPr>
              <a:spcAft>
                <a:spcPts val="2200"/>
              </a:spcAft>
            </a:pPr>
            <a:r>
              <a:rPr sz="3000" b="0">
                <a:solidFill>
                  <a:srgbClr val="272A25"/>
                </a:solidFill>
                <a:latin typeface="DM Sans"/>
              </a:rPr>
              <a:t>•  4 min: test it with your own agent, then revise</a:t>
            </a:r>
          </a:p>
        </p:txBody>
      </p:sp>
      <p:sp>
        <p:nvSpPr>
          <p:cNvPr id="5" name="TextBox 4"/>
          <p:cNvSpPr txBox="1"/>
          <p:nvPr/>
        </p:nvSpPr>
        <p:spPr>
          <a:xfrm>
            <a:off x="822960" y="6263640"/>
            <a:ext cx="10607040" cy="365760"/>
          </a:xfrm>
          <a:prstGeom prst="rect">
            <a:avLst/>
          </a:prstGeom>
          <a:noFill/>
        </p:spPr>
        <p:txBody>
          <a:bodyPr wrap="square">
            <a:spAutoFit/>
          </a:bodyPr>
          <a:lstStyle/>
          <a:p>
            <a:pPr algn="r">
              <a:spcAft>
                <a:spcPts val="1400"/>
              </a:spcAft>
            </a:pPr>
            <a:r>
              <a:rPr sz="1600" b="0">
                <a:solidFill>
                  <a:srgbClr val="64665D"/>
                </a:solidFill>
                <a:latin typeface="DM Sans"/>
              </a:rPr>
              <a:t>Week 6 · Close        18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A83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607040" cy="1188720"/>
          </a:xfrm>
          <a:prstGeom prst="rect">
            <a:avLst/>
          </a:prstGeom>
          <a:noFill/>
        </p:spPr>
        <p:txBody>
          <a:bodyPr wrap="square">
            <a:spAutoFit/>
          </a:bodyPr>
          <a:lstStyle/>
          <a:p>
            <a:pPr>
              <a:spcAft>
                <a:spcPts val="1400"/>
              </a:spcAft>
            </a:pPr>
            <a:r>
              <a:rPr sz="4000" b="1">
                <a:solidFill>
                  <a:srgbClr val="272A25"/>
                </a:solidFill>
                <a:latin typeface="Fraunces"/>
              </a:rPr>
              <a:t>Sources</a:t>
            </a:r>
          </a:p>
        </p:txBody>
      </p:sp>
      <p:sp>
        <p:nvSpPr>
          <p:cNvPr id="4" name="TextBox 3"/>
          <p:cNvSpPr txBox="1"/>
          <p:nvPr/>
        </p:nvSpPr>
        <p:spPr>
          <a:xfrm>
            <a:off x="822960" y="2011680"/>
            <a:ext cx="10607040" cy="4206240"/>
          </a:xfrm>
          <a:prstGeom prst="rect">
            <a:avLst/>
          </a:prstGeom>
          <a:noFill/>
        </p:spPr>
        <p:txBody>
          <a:bodyPr wrap="square">
            <a:spAutoFit/>
          </a:bodyPr>
          <a:lstStyle/>
          <a:p>
            <a:pPr>
              <a:spcAft>
                <a:spcPts val="1600"/>
              </a:spcAft>
            </a:pPr>
            <a:r>
              <a:rPr sz="2600" b="0">
                <a:solidFill>
                  <a:srgbClr val="272A25"/>
                </a:solidFill>
                <a:latin typeface="DM Sans"/>
              </a:rPr>
              <a:t>•  AGENTS.md convention · agents.md</a:t>
            </a:r>
          </a:p>
          <a:p>
            <a:pPr>
              <a:spcAft>
                <a:spcPts val="1600"/>
              </a:spcAft>
            </a:pPr>
            <a:r>
              <a:rPr sz="2600" b="0">
                <a:solidFill>
                  <a:srgbClr val="272A25"/>
                </a:solidFill>
                <a:latin typeface="DM Sans"/>
              </a:rPr>
              <a:t>•  Effective context engineering · Anthropic</a:t>
            </a:r>
          </a:p>
          <a:p>
            <a:pPr>
              <a:spcAft>
                <a:spcPts val="1600"/>
              </a:spcAft>
            </a:pPr>
            <a:r>
              <a:rPr sz="2600" b="0">
                <a:solidFill>
                  <a:srgbClr val="272A25"/>
                </a:solidFill>
                <a:latin typeface="DM Sans"/>
              </a:rPr>
              <a:t>•  GitHub Pages · docs.github.com/pages</a:t>
            </a:r>
          </a:p>
          <a:p>
            <a:pPr>
              <a:spcAft>
                <a:spcPts val="1600"/>
              </a:spcAft>
            </a:pPr>
            <a:r>
              <a:rPr sz="2600" b="0">
                <a:solidFill>
                  <a:srgbClr val="272A25"/>
                </a:solidFill>
                <a:latin typeface="DM Sans"/>
              </a:rPr>
              <a:t>•  MCP · modelcontextprotocol.io</a:t>
            </a:r>
          </a:p>
          <a:p>
            <a:pPr>
              <a:spcAft>
                <a:spcPts val="1600"/>
              </a:spcAft>
            </a:pPr>
            <a:r>
              <a:rPr sz="2600" b="0">
                <a:solidFill>
                  <a:srgbClr val="272A25"/>
                </a:solidFill>
                <a:latin typeface="DM Sans"/>
              </a:rPr>
              <a:t>•  AI Fluency (further reading) · academy.claude.com</a:t>
            </a:r>
          </a:p>
        </p:txBody>
      </p:sp>
      <p:sp>
        <p:nvSpPr>
          <p:cNvPr id="5" name="TextBox 4"/>
          <p:cNvSpPr txBox="1"/>
          <p:nvPr/>
        </p:nvSpPr>
        <p:spPr>
          <a:xfrm>
            <a:off x="822960" y="6263640"/>
            <a:ext cx="10607040" cy="365760"/>
          </a:xfrm>
          <a:prstGeom prst="rect">
            <a:avLst/>
          </a:prstGeom>
          <a:noFill/>
        </p:spPr>
        <p:txBody>
          <a:bodyPr wrap="square">
            <a:spAutoFit/>
          </a:bodyPr>
          <a:lstStyle/>
          <a:p>
            <a:pPr algn="r">
              <a:spcAft>
                <a:spcPts val="1400"/>
              </a:spcAft>
            </a:pPr>
            <a:r>
              <a:rPr sz="1600" b="0">
                <a:solidFill>
                  <a:srgbClr val="64665D"/>
                </a:solidFill>
                <a:latin typeface="DM Sans"/>
              </a:rPr>
              <a:t>Week 6 · Close        19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