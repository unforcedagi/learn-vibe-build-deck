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5:05–5:06. Teach through the slides first. One open-ended live conversation with Claude at the end, then small-group building. No predetermined build.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5:06–5:08. Students can learn the tools by asking the tools. The answer is a starting point, not an authority.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5:08–5:10. Explicit tie: Shipper used her AI as a coach, reflecting on actual projects and learning the next step. Without long chat history, paste your last two submissions or describe what you have tried. The free reading link is in your account. No due date announced.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5:10–5:12. # marks a heading; - marks a list. The lesson itself is markdown. No technical deep dive.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5:12–5:14. Specific support varies by tool. These are ordinary files with plain words. They help the next session know what you mean without re-explaining everything. No live demo here and no template.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5:14–5:16. Read the example as what you would tell a new teammate. The point is persistent context, not a prescribed format.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5:16–5:18. Commit saves a version locally. Push sends it to GitHub. Deploy publishes a website.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5:18–5:20. Plain HTML/CSS: Pages. A framework app may need a different host such as Vercel. The handout is optional detail; all essential concepts are on this slide. No deployment demo tonight.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5:20–5:22. Concept only; no course connector, server address or setup.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5:22–5:25. Show where the button is without starting the demo yet. The lesson includes this invitation and enough context for the group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5:25–5:35. Aaron chooses the conversation and any build in the moment. No scripted project or staged before/after. If Claude stalls, discuss what you would ask and move into group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5:35 onward. This is the group-work invitation, not a rigid template. Students choose who to work with, what to learn and what to build. No predefined roles or prescribed file format.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work. Optional nudge: ask your AI what it needs to know about your project and save that context as markdown. If unsure where to start, use the Week 6 Copy button and ask for help choosing a learning idea. Work is not done merely because code runs: check whether it teaches the right 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03120"/>
            <a:ext cx="10332720" cy="2743200"/>
          </a:xfrm>
          <a:prstGeom prst="rect">
            <a:avLst/>
          </a:prstGeom>
          <a:noFill/>
        </p:spPr>
        <p:txBody>
          <a:bodyPr wrap="square" anchor="ctr">
            <a:spAutoFit/>
          </a:bodyPr>
          <a:lstStyle/>
          <a:p>
            <a:pPr>
              <a:spcAft>
                <a:spcPts val="1400"/>
              </a:spcAft>
            </a:pPr>
            <a:r>
              <a:rPr sz="6000" b="1">
                <a:solidFill>
                  <a:srgbClr val="272A25"/>
                </a:solidFill>
                <a:latin typeface="Fraunces"/>
              </a:rPr>
              <a:t>Learn with your AI</a:t>
            </a:r>
          </a:p>
          <a:p>
            <a:pPr>
              <a:spcAft>
                <a:spcPts val="1400"/>
              </a:spcAft>
            </a:pPr>
            <a:r>
              <a:rPr sz="3000" b="0">
                <a:solidFill>
                  <a:srgbClr val="64665D"/>
                </a:solidFill>
                <a:latin typeface="DM Sans"/>
              </a:rPr>
              <a:t>Use AI to understand AI. Then build something that helps you learn.</a:t>
            </a:r>
          </a:p>
          <a:p>
            <a:pPr>
              <a:spcAft>
                <a:spcPts val="1400"/>
              </a:spcAft>
            </a:pPr>
            <a:r>
              <a:rPr sz="2000" b="0">
                <a:solidFill>
                  <a:srgbClr val="A83D2B"/>
                </a:solidFill>
                <a:latin typeface="DM Sans"/>
              </a:rPr>
              <a:t>Week 6 · Learn, Vibe, Build · October 5, 2026</a:t>
            </a:r>
          </a:p>
        </p:txBody>
      </p:sp>
      <p:sp>
        <p:nvSpPr>
          <p:cNvPr id="4" name="TextBox 3"/>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Opening        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4000" b="1">
                <a:solidFill>
                  <a:srgbClr val="272A25"/>
                </a:solidFill>
                <a:latin typeface="Fraunces"/>
              </a:rPr>
              <a:t>Your AI can help you learn about AI</a:t>
            </a:r>
          </a:p>
        </p:txBody>
      </p:sp>
      <p:sp>
        <p:nvSpPr>
          <p:cNvPr id="4" name="TextBox 3"/>
          <p:cNvSpPr txBox="1"/>
          <p:nvPr/>
        </p:nvSpPr>
        <p:spPr>
          <a:xfrm>
            <a:off x="822960" y="2011680"/>
            <a:ext cx="10607040" cy="4206240"/>
          </a:xfrm>
          <a:prstGeom prst="rect">
            <a:avLst/>
          </a:prstGeom>
          <a:noFill/>
        </p:spPr>
        <p:txBody>
          <a:bodyPr wrap="square">
            <a:spAutoFit/>
          </a:bodyPr>
          <a:lstStyle/>
          <a:p>
            <a:pPr>
              <a:spcAft>
                <a:spcPts val="2200"/>
              </a:spcAft>
            </a:pPr>
            <a:r>
              <a:rPr sz="3000" b="0">
                <a:solidFill>
                  <a:srgbClr val="272A25"/>
                </a:solidFill>
                <a:latin typeface="DM Sans"/>
              </a:rPr>
              <a:t>•  Ask for an explanation at your level.</a:t>
            </a:r>
          </a:p>
          <a:p>
            <a:pPr>
              <a:spcAft>
                <a:spcPts val="2200"/>
              </a:spcAft>
            </a:pPr>
            <a:r>
              <a:rPr sz="3000" b="0">
                <a:solidFill>
                  <a:srgbClr val="272A25"/>
                </a:solidFill>
                <a:latin typeface="DM Sans"/>
              </a:rPr>
              <a:t>•  Ask it to quiz you, then explain what you missed.</a:t>
            </a:r>
          </a:p>
          <a:p>
            <a:pPr>
              <a:spcAft>
                <a:spcPts val="2200"/>
              </a:spcAft>
            </a:pPr>
            <a:r>
              <a:rPr sz="3000" b="0">
                <a:solidFill>
                  <a:srgbClr val="272A25"/>
                </a:solidFill>
                <a:latin typeface="DM Sans"/>
              </a:rPr>
              <a:t>•  Check its claims against the material you gave it.</a:t>
            </a:r>
          </a:p>
        </p:txBody>
      </p:sp>
      <p:sp>
        <p:nvSpPr>
          <p:cNvPr id="5" name="TextBox 4"/>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Learn with AI        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4000" b="1">
                <a:solidFill>
                  <a:srgbClr val="272A25"/>
                </a:solidFill>
                <a:latin typeface="Fraunces"/>
              </a:rPr>
              <a:t>This week’s reading: your AI as a coach</a:t>
            </a:r>
          </a:p>
        </p:txBody>
      </p:sp>
      <p:sp>
        <p:nvSpPr>
          <p:cNvPr id="4" name="TextBox 3"/>
          <p:cNvSpPr txBox="1"/>
          <p:nvPr/>
        </p:nvSpPr>
        <p:spPr>
          <a:xfrm>
            <a:off x="822960" y="2011680"/>
            <a:ext cx="10607040" cy="4206240"/>
          </a:xfrm>
          <a:prstGeom prst="rect">
            <a:avLst/>
          </a:prstGeom>
          <a:noFill/>
        </p:spPr>
        <p:txBody>
          <a:bodyPr wrap="square">
            <a:spAutoFit/>
          </a:bodyPr>
          <a:lstStyle/>
          <a:p>
            <a:pPr>
              <a:spcAft>
                <a:spcPts val="2200"/>
              </a:spcAft>
            </a:pPr>
            <a:r>
              <a:rPr sz="3000" b="0">
                <a:solidFill>
                  <a:srgbClr val="272A25"/>
                </a:solidFill>
                <a:latin typeface="DM Sans"/>
              </a:rPr>
              <a:t>•  Arielle Shipper · How to Get Better at AI by Asking AI</a:t>
            </a:r>
          </a:p>
          <a:p>
            <a:pPr>
              <a:spcAft>
                <a:spcPts val="2200"/>
              </a:spcAft>
            </a:pPr>
            <a:r>
              <a:rPr sz="3000" b="0">
                <a:solidFill>
                  <a:srgbClr val="272A25"/>
                </a:solidFill>
                <a:latin typeface="DM Sans"/>
              </a:rPr>
              <a:t>•  Use examples of your own work to ask: “What should I learn next?”</a:t>
            </a:r>
          </a:p>
          <a:p>
            <a:pPr>
              <a:spcAft>
                <a:spcPts val="2200"/>
              </a:spcAft>
            </a:pPr>
            <a:r>
              <a:rPr sz="3000" b="0">
                <a:solidFill>
                  <a:srgbClr val="272A25"/>
                </a:solidFill>
                <a:latin typeface="DM Sans"/>
              </a:rPr>
              <a:t>•  Then: “Teach me that next step.”</a:t>
            </a:r>
          </a:p>
        </p:txBody>
      </p:sp>
      <p:sp>
        <p:nvSpPr>
          <p:cNvPr id="5" name="TextBox 4"/>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Learn with AI        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4000" b="1">
                <a:solidFill>
                  <a:srgbClr val="272A25"/>
                </a:solidFill>
                <a:latin typeface="Fraunces"/>
              </a:rPr>
              <a:t>Markdown is just a text file</a:t>
            </a:r>
          </a:p>
        </p:txBody>
      </p:sp>
      <p:sp>
        <p:nvSpPr>
          <p:cNvPr id="4" name="TextBox 3"/>
          <p:cNvSpPr txBox="1"/>
          <p:nvPr/>
        </p:nvSpPr>
        <p:spPr>
          <a:xfrm>
            <a:off x="822960" y="2011680"/>
            <a:ext cx="10607040" cy="4206240"/>
          </a:xfrm>
          <a:prstGeom prst="rect">
            <a:avLst/>
          </a:prstGeom>
          <a:noFill/>
        </p:spPr>
        <p:txBody>
          <a:bodyPr wrap="square">
            <a:spAutoFit/>
          </a:bodyPr>
          <a:lstStyle/>
          <a:p>
            <a:pPr>
              <a:spcAft>
                <a:spcPts val="2200"/>
              </a:spcAft>
            </a:pPr>
            <a:r>
              <a:rPr sz="3000" b="0">
                <a:solidFill>
                  <a:srgbClr val="272A25"/>
                </a:solidFill>
                <a:latin typeface="DM Sans"/>
              </a:rPr>
              <a:t>•  A .md file is plain text, with headings and lists.</a:t>
            </a:r>
          </a:p>
          <a:p>
            <a:pPr>
              <a:spcAft>
                <a:spcPts val="2200"/>
              </a:spcAft>
            </a:pPr>
            <a:r>
              <a:rPr sz="3000" b="0">
                <a:solidFill>
                  <a:srgbClr val="272A25"/>
                </a:solidFill>
                <a:latin typeface="DM Sans"/>
              </a:rPr>
              <a:t>•  You can read it. Your AI can read it.</a:t>
            </a:r>
          </a:p>
          <a:p>
            <a:pPr>
              <a:spcAft>
                <a:spcPts val="2200"/>
              </a:spcAft>
            </a:pPr>
            <a:r>
              <a:rPr sz="3000" b="0">
                <a:solidFill>
                  <a:srgbClr val="272A25"/>
                </a:solidFill>
                <a:latin typeface="DM Sans"/>
              </a:rPr>
              <a:t>•  A lesson or project context can live in that file.</a:t>
            </a:r>
          </a:p>
        </p:txBody>
      </p:sp>
      <p:sp>
        <p:nvSpPr>
          <p:cNvPr id="5" name="TextBox 4"/>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Context        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4000" b="1">
                <a:solidFill>
                  <a:srgbClr val="272A25"/>
                </a:solidFill>
                <a:latin typeface="Fraunces"/>
              </a:rPr>
              <a:t>Context that sticks</a:t>
            </a:r>
          </a:p>
        </p:txBody>
      </p:sp>
      <p:sp>
        <p:nvSpPr>
          <p:cNvPr id="4" name="TextBox 3"/>
          <p:cNvSpPr txBox="1"/>
          <p:nvPr/>
        </p:nvSpPr>
        <p:spPr>
          <a:xfrm>
            <a:off x="822960" y="2011680"/>
            <a:ext cx="10607040" cy="4206240"/>
          </a:xfrm>
          <a:prstGeom prst="rect">
            <a:avLst/>
          </a:prstGeom>
          <a:noFill/>
        </p:spPr>
        <p:txBody>
          <a:bodyPr wrap="square">
            <a:spAutoFit/>
          </a:bodyPr>
          <a:lstStyle/>
          <a:p>
            <a:pPr>
              <a:spcAft>
                <a:spcPts val="2200"/>
              </a:spcAft>
            </a:pPr>
            <a:r>
              <a:rPr sz="3000" b="0">
                <a:solidFill>
                  <a:srgbClr val="272A25"/>
                </a:solidFill>
                <a:latin typeface="DM Sans"/>
              </a:rPr>
              <a:t>•  Claude Code loads CLAUDE.md at session start.</a:t>
            </a:r>
          </a:p>
          <a:p>
            <a:pPr>
              <a:spcAft>
                <a:spcPts val="2200"/>
              </a:spcAft>
            </a:pPr>
            <a:r>
              <a:rPr sz="3000" b="0">
                <a:solidFill>
                  <a:srgbClr val="272A25"/>
                </a:solidFill>
                <a:latin typeface="DM Sans"/>
              </a:rPr>
              <a:t>•  Cursor and other coding tools can load AGENTS.md.</a:t>
            </a:r>
          </a:p>
          <a:p>
            <a:pPr>
              <a:spcAft>
                <a:spcPts val="2200"/>
              </a:spcAft>
            </a:pPr>
            <a:r>
              <a:rPr sz="3000" b="0">
                <a:solidFill>
                  <a:srgbClr val="272A25"/>
                </a:solidFill>
                <a:latin typeface="DM Sans"/>
              </a:rPr>
              <a:t>•  In a chat app: paste the file or add it to a Project.</a:t>
            </a:r>
          </a:p>
        </p:txBody>
      </p:sp>
      <p:sp>
        <p:nvSpPr>
          <p:cNvPr id="5" name="TextBox 4"/>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Context        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4000" b="1">
                <a:solidFill>
                  <a:srgbClr val="272A25"/>
                </a:solidFill>
                <a:latin typeface="Fraunces"/>
              </a:rPr>
              <a:t>One small example</a:t>
            </a:r>
          </a:p>
        </p:txBody>
      </p:sp>
      <p:sp>
        <p:nvSpPr>
          <p:cNvPr id="4" name="Rectangle 3"/>
          <p:cNvSpPr/>
          <p:nvPr/>
        </p:nvSpPr>
        <p:spPr>
          <a:xfrm>
            <a:off x="822960" y="1828800"/>
            <a:ext cx="6583680" cy="4023360"/>
          </a:xfrm>
          <a:prstGeom prst="rect">
            <a:avLst/>
          </a:prstGeom>
          <a:solidFill>
            <a:srgbClr val="EEEC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011680"/>
            <a:ext cx="6217920" cy="3749039"/>
          </a:xfrm>
          <a:prstGeom prst="rect">
            <a:avLst/>
          </a:prstGeom>
          <a:noFill/>
        </p:spPr>
        <p:txBody>
          <a:bodyPr wrap="square">
            <a:spAutoFit/>
          </a:bodyPr>
          <a:lstStyle/>
          <a:p>
            <a:pPr>
              <a:spcAft>
                <a:spcPts val="200"/>
              </a:spcAft>
            </a:pPr>
            <a:r>
              <a:rPr sz="1800" b="0">
                <a:solidFill>
                  <a:srgbClr val="272A25"/>
                </a:solidFill>
                <a:latin typeface="DejaVu Sans Mono"/>
              </a:rPr>
              <a:t># Hill Plant Swap</a:t>
            </a:r>
          </a:p>
          <a:p>
            <a:pPr>
              <a:spcAft>
                <a:spcPts val="200"/>
              </a:spcAft>
            </a:pPr>
            <a:r>
              <a:rPr sz="1800" b="0">
                <a:solidFill>
                  <a:srgbClr val="272A25"/>
                </a:solidFill>
                <a:latin typeface="DejaVu Sans Mono"/>
              </a:rPr>
              <a:t>A one-page website for a free plant swap near CU.</a:t>
            </a:r>
          </a:p>
          <a:p>
            <a:pPr>
              <a:spcAft>
                <a:spcPts val="200"/>
              </a:spcAft>
            </a:pPr>
            <a:r>
              <a:rPr sz="1800" b="0">
                <a:solidFill>
                  <a:srgbClr val="272A25"/>
                </a:solidFill>
                <a:latin typeface="DejaVu Sans Mono"/>
              </a:rPr>
              <a:t>For first-year students who are nervous about going.</a:t>
            </a:r>
          </a:p>
          <a:p>
            <a:pPr>
              <a:spcAft>
                <a:spcPts val="200"/>
              </a:spcAft>
            </a:pPr>
            <a:r>
              <a:rPr sz="1800" b="0">
                <a:solidFill>
                  <a:srgbClr val="272A25"/>
                </a:solidFill>
                <a:latin typeface="DejaVu Sans Mono"/>
              </a:rPr>
              <a:t>Keep it plain HTML and CSS. No JavaScript.</a:t>
            </a:r>
          </a:p>
          <a:p>
            <a:pPr>
              <a:spcAft>
                <a:spcPts val="200"/>
              </a:spcAft>
            </a:pPr>
            <a:r>
              <a:rPr sz="1800" b="0">
                <a:solidFill>
                  <a:srgbClr val="272A25"/>
                </a:solidFill>
                <a:latin typeface="DejaVu Sans Mono"/>
              </a:rPr>
              <a:t>Use docs/event-facts.md. Never make up dates.</a:t>
            </a:r>
          </a:p>
        </p:txBody>
      </p:sp>
      <p:sp>
        <p:nvSpPr>
          <p:cNvPr id="6" name="TextBox 5"/>
          <p:cNvSpPr txBox="1"/>
          <p:nvPr/>
        </p:nvSpPr>
        <p:spPr>
          <a:xfrm>
            <a:off x="7772400" y="3108960"/>
            <a:ext cx="3931920" cy="1828800"/>
          </a:xfrm>
          <a:prstGeom prst="rect">
            <a:avLst/>
          </a:prstGeom>
          <a:noFill/>
        </p:spPr>
        <p:txBody>
          <a:bodyPr wrap="square">
            <a:spAutoFit/>
          </a:bodyPr>
          <a:lstStyle/>
          <a:p>
            <a:pPr>
              <a:spcAft>
                <a:spcPts val="1400"/>
              </a:spcAft>
            </a:pPr>
            <a:r>
              <a:rPr sz="2800" b="0">
                <a:solidFill>
                  <a:srgbClr val="64665D"/>
                </a:solidFill>
                <a:latin typeface="DM Sans"/>
              </a:rPr>
              <a:t>Plain words. Nothing fancy.</a:t>
            </a:r>
          </a:p>
        </p:txBody>
      </p:sp>
      <p:sp>
        <p:nvSpPr>
          <p:cNvPr id="7" name="TextBox 6"/>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Context        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4000" b="1">
                <a:solidFill>
                  <a:srgbClr val="272A25"/>
                </a:solidFill>
                <a:latin typeface="Fraunces"/>
              </a:rPr>
              <a:t>A link someone else can open</a:t>
            </a:r>
          </a:p>
        </p:txBody>
      </p:sp>
      <p:sp>
        <p:nvSpPr>
          <p:cNvPr id="4" name="TextBox 3"/>
          <p:cNvSpPr txBox="1"/>
          <p:nvPr/>
        </p:nvSpPr>
        <p:spPr>
          <a:xfrm>
            <a:off x="822960" y="2011680"/>
            <a:ext cx="10607040" cy="4206240"/>
          </a:xfrm>
          <a:prstGeom prst="rect">
            <a:avLst/>
          </a:prstGeom>
          <a:noFill/>
        </p:spPr>
        <p:txBody>
          <a:bodyPr wrap="square">
            <a:spAutoFit/>
          </a:bodyPr>
          <a:lstStyle/>
          <a:p>
            <a:pPr>
              <a:spcAft>
                <a:spcPts val="2200"/>
              </a:spcAft>
            </a:pPr>
            <a:r>
              <a:rPr sz="3000" b="0">
                <a:solidFill>
                  <a:srgbClr val="272A25"/>
                </a:solidFill>
                <a:latin typeface="DM Sans"/>
              </a:rPr>
              <a:t>•  file:// and localhost links only work on your computer.</a:t>
            </a:r>
          </a:p>
          <a:p>
            <a:pPr>
              <a:spcAft>
                <a:spcPts val="2200"/>
              </a:spcAft>
            </a:pPr>
            <a:r>
              <a:rPr sz="3000" b="0">
                <a:solidFill>
                  <a:srgbClr val="272A25"/>
                </a:solidFill>
                <a:latin typeface="DM Sans"/>
              </a:rPr>
              <a:t>•  A public HTTPS link works on someone else’s phone.</a:t>
            </a:r>
          </a:p>
          <a:p>
            <a:pPr>
              <a:spcAft>
                <a:spcPts val="2200"/>
              </a:spcAft>
            </a:pPr>
            <a:r>
              <a:rPr sz="3000" b="0">
                <a:solidFill>
                  <a:srgbClr val="272A25"/>
                </a:solidFill>
                <a:latin typeface="DM Sans"/>
              </a:rPr>
              <a:t>•  Commit → push → deploy are three different steps.</a:t>
            </a:r>
          </a:p>
        </p:txBody>
      </p:sp>
      <p:sp>
        <p:nvSpPr>
          <p:cNvPr id="5" name="TextBox 4"/>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Getting online        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4000" b="1">
                <a:solidFill>
                  <a:srgbClr val="272A25"/>
                </a:solidFill>
                <a:latin typeface="Fraunces"/>
              </a:rPr>
              <a:t>The short path online</a:t>
            </a:r>
          </a:p>
        </p:txBody>
      </p:sp>
      <p:sp>
        <p:nvSpPr>
          <p:cNvPr id="4" name="TextBox 3"/>
          <p:cNvSpPr txBox="1"/>
          <p:nvPr/>
        </p:nvSpPr>
        <p:spPr>
          <a:xfrm>
            <a:off x="822960" y="2011680"/>
            <a:ext cx="10607040" cy="4206240"/>
          </a:xfrm>
          <a:prstGeom prst="rect">
            <a:avLst/>
          </a:prstGeom>
          <a:noFill/>
        </p:spPr>
        <p:txBody>
          <a:bodyPr wrap="square">
            <a:spAutoFit/>
          </a:bodyPr>
          <a:lstStyle/>
          <a:p>
            <a:pPr>
              <a:spcAft>
                <a:spcPts val="2200"/>
              </a:spcAft>
            </a:pPr>
            <a:r>
              <a:rPr sz="3000" b="0">
                <a:solidFill>
                  <a:srgbClr val="272A25"/>
                </a:solidFill>
                <a:latin typeface="DM Sans"/>
              </a:rPr>
              <a:t>•  GitHub Desktop: create repo → commit → publish.</a:t>
            </a:r>
          </a:p>
          <a:p>
            <a:pPr>
              <a:spcAft>
                <a:spcPts val="2200"/>
              </a:spcAft>
            </a:pPr>
            <a:r>
              <a:rPr sz="3000" b="0">
                <a:solidFill>
                  <a:srgbClr val="272A25"/>
                </a:solidFill>
                <a:latin typeface="DM Sans"/>
              </a:rPr>
              <a:t>•  GitHub: Settings → Pages → main / root → Save.</a:t>
            </a:r>
          </a:p>
          <a:p>
            <a:pPr>
              <a:spcAft>
                <a:spcPts val="2200"/>
              </a:spcAft>
            </a:pPr>
            <a:r>
              <a:rPr sz="3000" b="0">
                <a:solidFill>
                  <a:srgbClr val="272A25"/>
                </a:solidFill>
                <a:latin typeface="DM Sans"/>
              </a:rPr>
              <a:t>•  Open the published link on another phone.</a:t>
            </a:r>
          </a:p>
        </p:txBody>
      </p:sp>
      <p:sp>
        <p:nvSpPr>
          <p:cNvPr id="5" name="TextBox 4"/>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Getting online        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4000" b="1">
                <a:solidFill>
                  <a:srgbClr val="272A25"/>
                </a:solidFill>
                <a:latin typeface="Fraunces"/>
              </a:rPr>
              <a:t>Next week: your AI reaches your tools</a:t>
            </a:r>
          </a:p>
        </p:txBody>
      </p:sp>
      <p:sp>
        <p:nvSpPr>
          <p:cNvPr id="4" name="TextBox 3"/>
          <p:cNvSpPr txBox="1"/>
          <p:nvPr/>
        </p:nvSpPr>
        <p:spPr>
          <a:xfrm>
            <a:off x="822960" y="2011680"/>
            <a:ext cx="10607040" cy="4206240"/>
          </a:xfrm>
          <a:prstGeom prst="rect">
            <a:avLst/>
          </a:prstGeom>
          <a:noFill/>
        </p:spPr>
        <p:txBody>
          <a:bodyPr wrap="square">
            <a:spAutoFit/>
          </a:bodyPr>
          <a:lstStyle/>
          <a:p>
            <a:pPr>
              <a:spcAft>
                <a:spcPts val="2200"/>
              </a:spcAft>
            </a:pPr>
            <a:r>
              <a:rPr sz="3000" b="0">
                <a:solidFill>
                  <a:srgbClr val="272A25"/>
                </a:solidFill>
                <a:latin typeface="DM Sans"/>
              </a:rPr>
              <a:t>•  API: one program asking another for something.</a:t>
            </a:r>
          </a:p>
          <a:p>
            <a:pPr>
              <a:spcAft>
                <a:spcPts val="2200"/>
              </a:spcAft>
            </a:pPr>
            <a:r>
              <a:rPr sz="3000" b="0">
                <a:solidFill>
                  <a:srgbClr val="272A25"/>
                </a:solidFill>
                <a:latin typeface="DM Sans"/>
              </a:rPr>
              <a:t>•  Connector: your AI reaches tools directly, instead of you pasting.</a:t>
            </a:r>
          </a:p>
          <a:p>
            <a:pPr>
              <a:spcAft>
                <a:spcPts val="2200"/>
              </a:spcAft>
            </a:pPr>
            <a:r>
              <a:rPr sz="3000" b="0">
                <a:solidFill>
                  <a:srgbClr val="272A25"/>
                </a:solidFill>
                <a:latin typeface="DM Sans"/>
              </a:rPr>
              <a:t>•  This week we copy. Next week we’ll connect.</a:t>
            </a:r>
          </a:p>
        </p:txBody>
      </p:sp>
      <p:sp>
        <p:nvSpPr>
          <p:cNvPr id="5" name="TextBox 4"/>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Looking ahead        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3200" b="1">
                <a:solidFill>
                  <a:srgbClr val="272A25"/>
                </a:solidFill>
                <a:latin typeface="Fraunces"/>
              </a:rPr>
              <a:t>Everything you need is on the Week 6 page</a:t>
            </a:r>
          </a:p>
        </p:txBody>
      </p:sp>
      <p:sp>
        <p:nvSpPr>
          <p:cNvPr id="4" name="TextBox 3"/>
          <p:cNvSpPr txBox="1"/>
          <p:nvPr/>
        </p:nvSpPr>
        <p:spPr>
          <a:xfrm>
            <a:off x="822960" y="2011680"/>
            <a:ext cx="10607040" cy="4206240"/>
          </a:xfrm>
          <a:prstGeom prst="rect">
            <a:avLst/>
          </a:prstGeom>
          <a:noFill/>
        </p:spPr>
        <p:txBody>
          <a:bodyPr wrap="square">
            <a:spAutoFit/>
          </a:bodyPr>
          <a:lstStyle/>
          <a:p>
            <a:pPr>
              <a:spcAft>
                <a:spcPts val="2200"/>
              </a:spcAft>
            </a:pPr>
            <a:r>
              <a:rPr sz="3000" b="0">
                <a:solidFill>
                  <a:srgbClr val="272A25"/>
                </a:solidFill>
                <a:latin typeface="DM Sans"/>
              </a:rPr>
              <a:t>•  cu.learnvibe.build → Everything for Week 6</a:t>
            </a:r>
          </a:p>
          <a:p>
            <a:pPr>
              <a:spcAft>
                <a:spcPts val="2200"/>
              </a:spcAft>
            </a:pPr>
            <a:r>
              <a:rPr sz="3000" b="0">
                <a:solidFill>
                  <a:srgbClr val="272A25"/>
                </a:solidFill>
                <a:latin typeface="DM Sans"/>
              </a:rPr>
              <a:t>•  Click “Copy lesson as markdown” → paste into your AI.</a:t>
            </a:r>
          </a:p>
          <a:p>
            <a:pPr>
              <a:spcAft>
                <a:spcPts val="2200"/>
              </a:spcAft>
            </a:pPr>
            <a:r>
              <a:rPr sz="3000" b="0">
                <a:solidFill>
                  <a:srgbClr val="272A25"/>
                </a:solidFill>
                <a:latin typeface="DM Sans"/>
              </a:rPr>
              <a:t>•  Ask: “Teach me this and quiz me.”</a:t>
            </a:r>
          </a:p>
        </p:txBody>
      </p:sp>
      <p:sp>
        <p:nvSpPr>
          <p:cNvPr id="5" name="TextBox 4"/>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Learn with AI        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4000" b="1">
                <a:solidFill>
                  <a:srgbClr val="272A25"/>
                </a:solidFill>
                <a:latin typeface="Fraunces"/>
              </a:rPr>
              <a:t>One live conversation with Claude</a:t>
            </a:r>
          </a:p>
        </p:txBody>
      </p:sp>
      <p:sp>
        <p:nvSpPr>
          <p:cNvPr id="4" name="TextBox 3"/>
          <p:cNvSpPr txBox="1"/>
          <p:nvPr/>
        </p:nvSpPr>
        <p:spPr>
          <a:xfrm>
            <a:off x="822960" y="2011680"/>
            <a:ext cx="10607040" cy="4206240"/>
          </a:xfrm>
          <a:prstGeom prst="rect">
            <a:avLst/>
          </a:prstGeom>
          <a:noFill/>
        </p:spPr>
        <p:txBody>
          <a:bodyPr wrap="square">
            <a:spAutoFit/>
          </a:bodyPr>
          <a:lstStyle/>
          <a:p>
            <a:pPr>
              <a:spcAft>
                <a:spcPts val="2200"/>
              </a:spcAft>
            </a:pPr>
            <a:r>
              <a:rPr sz="3000" b="0">
                <a:solidFill>
                  <a:srgbClr val="272A25"/>
                </a:solidFill>
                <a:latin typeface="DM Sans"/>
              </a:rPr>
              <a:t>•  Copy the lesson markdown into Claude.</a:t>
            </a:r>
          </a:p>
          <a:p>
            <a:pPr>
              <a:spcAft>
                <a:spcPts val="2200"/>
              </a:spcAft>
            </a:pPr>
            <a:r>
              <a:rPr sz="3000" b="0">
                <a:solidFill>
                  <a:srgbClr val="272A25"/>
                </a:solidFill>
                <a:latin typeface="DM Sans"/>
              </a:rPr>
              <a:t>•  Talk through what you want to understand.</a:t>
            </a:r>
          </a:p>
          <a:p>
            <a:pPr>
              <a:spcAft>
                <a:spcPts val="2200"/>
              </a:spcAft>
            </a:pPr>
            <a:r>
              <a:rPr sz="3000" b="0">
                <a:solidFill>
                  <a:srgbClr val="272A25"/>
                </a:solidFill>
                <a:latin typeface="DM Sans"/>
              </a:rPr>
              <a:t>•  Maybe ask Claude to build a little thing from that conversation.</a:t>
            </a:r>
          </a:p>
        </p:txBody>
      </p:sp>
      <p:sp>
        <p:nvSpPr>
          <p:cNvPr id="5" name="TextBox 4"/>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Live demo        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3200" b="1">
                <a:solidFill>
                  <a:srgbClr val="272A25"/>
                </a:solidFill>
                <a:latin typeface="Fraunces"/>
              </a:rPr>
              <a:t>In small groups: build something that helps you learn</a:t>
            </a:r>
          </a:p>
        </p:txBody>
      </p:sp>
      <p:sp>
        <p:nvSpPr>
          <p:cNvPr id="4" name="TextBox 3"/>
          <p:cNvSpPr txBox="1"/>
          <p:nvPr/>
        </p:nvSpPr>
        <p:spPr>
          <a:xfrm>
            <a:off x="822960" y="2011680"/>
            <a:ext cx="10607040" cy="4206240"/>
          </a:xfrm>
          <a:prstGeom prst="rect">
            <a:avLst/>
          </a:prstGeom>
          <a:noFill/>
        </p:spPr>
        <p:txBody>
          <a:bodyPr wrap="square">
            <a:spAutoFit/>
          </a:bodyPr>
          <a:lstStyle/>
          <a:p>
            <a:pPr>
              <a:spcAft>
                <a:spcPts val="2200"/>
              </a:spcAft>
            </a:pPr>
            <a:r>
              <a:rPr sz="3000" b="0">
                <a:solidFill>
                  <a:srgbClr val="272A25"/>
                </a:solidFill>
                <a:latin typeface="DM Sans"/>
              </a:rPr>
              <a:t>•  Choose your own topic and approach.</a:t>
            </a:r>
          </a:p>
          <a:p>
            <a:pPr>
              <a:spcAft>
                <a:spcPts val="2200"/>
              </a:spcAft>
            </a:pPr>
            <a:r>
              <a:rPr sz="3000" b="0">
                <a:solidFill>
                  <a:srgbClr val="272A25"/>
                </a:solidFill>
                <a:latin typeface="DM Sans"/>
              </a:rPr>
              <a:t>•  Try a quiz, interactive explainer, practice tool—or your own idea.</a:t>
            </a:r>
          </a:p>
          <a:p>
            <a:pPr>
              <a:spcAft>
                <a:spcPts val="2200"/>
              </a:spcAft>
            </a:pPr>
            <a:r>
              <a:rPr sz="3000" b="0">
                <a:solidFill>
                  <a:srgbClr val="272A25"/>
                </a:solidFill>
                <a:latin typeface="DM Sans"/>
              </a:rPr>
              <a:t>•  Use your AI, test what you build, and show what it helped you learn.</a:t>
            </a:r>
          </a:p>
        </p:txBody>
      </p:sp>
      <p:sp>
        <p:nvSpPr>
          <p:cNvPr id="5" name="TextBox 4"/>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Group work        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A83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48640"/>
            <a:ext cx="10607040" cy="1188720"/>
          </a:xfrm>
          <a:prstGeom prst="rect">
            <a:avLst/>
          </a:prstGeom>
          <a:noFill/>
        </p:spPr>
        <p:txBody>
          <a:bodyPr wrap="square">
            <a:spAutoFit/>
          </a:bodyPr>
          <a:lstStyle/>
          <a:p>
            <a:pPr>
              <a:spcAft>
                <a:spcPts val="1400"/>
              </a:spcAft>
            </a:pPr>
            <a:r>
              <a:rPr sz="4000" b="1">
                <a:solidFill>
                  <a:srgbClr val="272A25"/>
                </a:solidFill>
                <a:latin typeface="Fraunces"/>
              </a:rPr>
              <a:t>Start with a learning question</a:t>
            </a:r>
          </a:p>
        </p:txBody>
      </p:sp>
      <p:sp>
        <p:nvSpPr>
          <p:cNvPr id="4" name="TextBox 3"/>
          <p:cNvSpPr txBox="1"/>
          <p:nvPr/>
        </p:nvSpPr>
        <p:spPr>
          <a:xfrm>
            <a:off x="822960" y="2011680"/>
            <a:ext cx="10607040" cy="4206240"/>
          </a:xfrm>
          <a:prstGeom prst="rect">
            <a:avLst/>
          </a:prstGeom>
          <a:noFill/>
        </p:spPr>
        <p:txBody>
          <a:bodyPr wrap="square">
            <a:spAutoFit/>
          </a:bodyPr>
          <a:lstStyle/>
          <a:p>
            <a:pPr>
              <a:spcAft>
                <a:spcPts val="2200"/>
              </a:spcAft>
            </a:pPr>
            <a:r>
              <a:rPr sz="3000" b="0">
                <a:solidFill>
                  <a:srgbClr val="272A25"/>
                </a:solidFill>
                <a:latin typeface="DM Sans"/>
              </a:rPr>
              <a:t>•  What do you want to understand or practise?</a:t>
            </a:r>
          </a:p>
          <a:p>
            <a:pPr>
              <a:spcAft>
                <a:spcPts val="2200"/>
              </a:spcAft>
            </a:pPr>
            <a:r>
              <a:rPr sz="3000" b="0">
                <a:solidFill>
                  <a:srgbClr val="272A25"/>
                </a:solidFill>
                <a:latin typeface="DM Sans"/>
              </a:rPr>
              <a:t>•  Give your AI the lesson, your question, or both.</a:t>
            </a:r>
          </a:p>
          <a:p>
            <a:pPr>
              <a:spcAft>
                <a:spcPts val="2200"/>
              </a:spcAft>
            </a:pPr>
            <a:r>
              <a:rPr sz="3000" b="0">
                <a:solidFill>
                  <a:srgbClr val="272A25"/>
                </a:solidFill>
                <a:latin typeface="DM Sans"/>
              </a:rPr>
              <a:t>•  Build a small first version; try it and revise.</a:t>
            </a:r>
          </a:p>
        </p:txBody>
      </p:sp>
      <p:sp>
        <p:nvSpPr>
          <p:cNvPr id="5" name="TextBox 4"/>
          <p:cNvSpPr txBox="1"/>
          <p:nvPr/>
        </p:nvSpPr>
        <p:spPr>
          <a:xfrm>
            <a:off x="822960" y="6263640"/>
            <a:ext cx="10607040" cy="365760"/>
          </a:xfrm>
          <a:prstGeom prst="rect">
            <a:avLst/>
          </a:prstGeom>
          <a:noFill/>
        </p:spPr>
        <p:txBody>
          <a:bodyPr wrap="square">
            <a:spAutoFit/>
          </a:bodyPr>
          <a:lstStyle/>
          <a:p>
            <a:pPr algn="r">
              <a:spcAft>
                <a:spcPts val="1400"/>
              </a:spcAft>
            </a:pPr>
            <a:r>
              <a:rPr sz="1600" b="0">
                <a:solidFill>
                  <a:srgbClr val="64665D"/>
                </a:solidFill>
                <a:latin typeface="DM Sans"/>
              </a:rPr>
              <a:t>Week 6 · Group work        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